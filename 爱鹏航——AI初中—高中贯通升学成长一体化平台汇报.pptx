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大家好，欢迎参加本次关于“爱鹏航”项目的汇报。今天我将向大家详细介绍我们推出的这款AI初中—高中贯通升学成长一体化平台，它旨在为全国的中学和家长提供一套全链路的智慧教育解决方案。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八个部分，首先是项目概述，让大家对我们的产品有一个整体的认识；接着是需求分析，深入了解家长和学生在升学过程中的痛点；然后是核心功能介绍，展示我们如何利用AI技术解决这些痛点；之后是技术架构、实施计划、预期成效和安全合规的说明；最后进行总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首先，我们来看第一部分：项目概述。我们的目标是打造一个一体化的智慧教育解决方案。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“爱鹏航”平台的核心是一体化，它覆盖了从初三备考到高中学习成长的全过程。我们通过AI技术，将各个环节打通，打破信息壁垒，确保用户在不同场景下都能获得连贯、一致的服务体验。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了解了项目的整体情况后，我们来深入分析一下当前家长在孩子升学过程中普遍面临的核心痛点。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我们总结出四大核心痛点：分数对应不明、政策理解困难、信息获取分散和志愿填报风险高。针对这些痛点，我们都设计了相应的AI解决方案，从预测、解读、整合到预警，全方位为家长排忧解难。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接下来，我们详细介绍平台的核心功能，看看AI是如何赋能整个升学流程的。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我们的AI能力贯穿了四个核心板块：学业伴学、志愿填报、中考择校和初高衔接。每个板块都针对升学流程中的关键环节，提供智能化的服务，确保学生和家长能获得最专业的指导。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以AI中考分数预测引擎为例，它通过整合学生的多维度学习数据，运用先进的机器学习算法，能够精准预测学生的中考分数和位次，并给出置信度报告，为后续的择校和填报提供关键依据。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在择校环节，家长只需输入分数、户籍、偏好等信息，AI系统就能根据这些维度，智能推荐出冲刺、稳妥和保底三个档位的学校，并提供详细的分析报告，帮助家长做出最科学的选择。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志愿填报是整个流程的关键一步。我们的系统能智能生成志愿表并进行风险检测，确保填报的科学性和安全性。同时，我们的政策问答机器人基于权威知识库，能准确解答家长关于升学政策的任何疑问。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强大的功能背后，是先进的技术架构作为支撑。接下来，我将介绍我们的全国版“1+1+N”云原生架构。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我们的架构以大模型服务和RAG检索增强系统为核心，辅以规则引擎、用户画像系统等模块，构建了一个高效、稳定、可扩展的云原生平台，能够支撑全国范围内的业务需求。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我们的一个技术亮点是实现了AI与爬虫的数据闭环。通过自动化的采集、清洗、审核和存储，确保了平台数据的实时性、准确性和权威性，为AI决策提供了坚实的数据基础。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有了好的产品和技术，还需要周密的实施计划来确保项目顺利落地。下面介绍我们的项目开发时间表和推广路线图。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我们计划用6个月时间完成项目开发和试点上线，并采用“样板省建设-重点省扩张-全国覆盖”的三步走策略，在9个月内实现全国推广，建立省级代理模式。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那么，这个项目能带来怎样的成效呢？我们从量化指标和社会价值两个方面来看。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预期，通过“爱鹏航”平台，能显著降低家长的填报失误率和学生的滑档风险，最终覆盖全国并服务百万用户。更重要的是，我们希望通过科技的力量，推动教育公平，让优质的教育信息和指导服务惠及更多家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追求创新的同时，我们高度重视安全与合规，从数据采集、隐私保护到内容审核，都建立了严格的保障机制。总结来说，“爱鹏航”是一个全国独家的全周期教育AI平台，具有显著的商业优势，并能切实解决家长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我的汇报到此结束，感谢各位的聆听，敬请批评指正。谢谢大家！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17" Target="../media/image17.png" Type="http://schemas.openxmlformats.org/officeDocument/2006/relationships/image"/><Relationship Id="rId18" Target="../media/image18.svg" Type="http://schemas.openxmlformats.org/officeDocument/2006/relationships/image"/><Relationship Id="rId19"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19.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2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26.jpe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 Id="rId6" Target="../media/image31.jpeg" Type="http://schemas.openxmlformats.org/officeDocument/2006/relationships/image"/><Relationship Id="rId7"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19.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jpe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notesSlides/notesSlide9.xml" Type="http://schemas.openxmlformats.org/officeDocument/2006/relationships/notesSlide"/><Relationship Id="rId2" Target="../media/image19.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media/image35.png" Type="http://schemas.openxmlformats.org/officeDocument/2006/relationships/image"/><Relationship Id="rId14" Target="../media/image36.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57.png" Type="http://schemas.openxmlformats.org/officeDocument/2006/relationships/image"/><Relationship Id="rId2" Target="../media/image19.jpeg" Type="http://schemas.openxmlformats.org/officeDocument/2006/relationships/image"/><Relationship Id="rId20" Target="../media/image58.svg" Type="http://schemas.openxmlformats.org/officeDocument/2006/relationships/image"/><Relationship Id="rId21" Target="../media/image34.jpeg" Type="http://schemas.openxmlformats.org/officeDocument/2006/relationships/image"/><Relationship Id="rId22" Target="../notesSlides/notesSlide10.xml" Type="http://schemas.openxmlformats.org/officeDocument/2006/relationships/notesSlide"/><Relationship Id="rId3" Target="../media/image45.png" Type="http://schemas.openxmlformats.org/officeDocument/2006/relationships/image"/><Relationship Id="rId4" Target="../media/image46.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5.png" Type="http://schemas.openxmlformats.org/officeDocument/2006/relationships/image"/><Relationship Id="rId11" Target="../media/image66.svg" Type="http://schemas.openxmlformats.org/officeDocument/2006/relationships/image"/><Relationship Id="rId12" Target="../media/image67.png" Type="http://schemas.openxmlformats.org/officeDocument/2006/relationships/image"/><Relationship Id="rId13" Target="../media/image68.sv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16" Target="../media/image71.png" Type="http://schemas.openxmlformats.org/officeDocument/2006/relationships/image"/><Relationship Id="rId17" Target="../media/image72.svg" Type="http://schemas.openxmlformats.org/officeDocument/2006/relationships/image"/><Relationship Id="rId18" Target="../notesSlides/notesSlide11.xml" Type="http://schemas.openxmlformats.org/officeDocument/2006/relationships/notesSlide"/><Relationship Id="rId2" Target="../media/image19.jpeg" Type="http://schemas.openxmlformats.org/officeDocument/2006/relationships/image"/><Relationship Id="rId3" Target="../media/image34.jpe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 Id="rId8" Target="../media/image63.png" Type="http://schemas.openxmlformats.org/officeDocument/2006/relationships/image"/><Relationship Id="rId9" Target="../media/image6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0.svg" Type="http://schemas.openxmlformats.org/officeDocument/2006/relationships/image"/><Relationship Id="rId11" Target="../media/image81.png" Type="http://schemas.openxmlformats.org/officeDocument/2006/relationships/image"/><Relationship Id="rId12" Target="../media/image82.svg" Type="http://schemas.openxmlformats.org/officeDocument/2006/relationships/image"/><Relationship Id="rId13" Target="../media/image83.png" Type="http://schemas.openxmlformats.org/officeDocument/2006/relationships/image"/><Relationship Id="rId14" Target="../media/image84.svg" Type="http://schemas.openxmlformats.org/officeDocument/2006/relationships/image"/><Relationship Id="rId15" Target="../notesSlides/notesSlide13.xml" Type="http://schemas.openxmlformats.org/officeDocument/2006/relationships/notesSlide"/><Relationship Id="rId2" Target="../media/image19.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75.png" Type="http://schemas.openxmlformats.org/officeDocument/2006/relationships/image"/><Relationship Id="rId6" Target="../media/image76.svg" Type="http://schemas.openxmlformats.org/officeDocument/2006/relationships/image"/><Relationship Id="rId7" Target="../media/image77.png" Type="http://schemas.openxmlformats.org/officeDocument/2006/relationships/image"/><Relationship Id="rId8" Target="../media/image78.svg" Type="http://schemas.openxmlformats.org/officeDocument/2006/relationships/image"/><Relationship Id="rId9" Target="../media/image7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0.svg" Type="http://schemas.openxmlformats.org/officeDocument/2006/relationships/image"/><Relationship Id="rId11" Target="../media/image91.png" Type="http://schemas.openxmlformats.org/officeDocument/2006/relationships/image"/><Relationship Id="rId12" Target="../media/image92.svg" Type="http://schemas.openxmlformats.org/officeDocument/2006/relationships/image"/><Relationship Id="rId13" Target="../media/image67.png" Type="http://schemas.openxmlformats.org/officeDocument/2006/relationships/image"/><Relationship Id="rId14" Target="../media/image68.svg" Type="http://schemas.openxmlformats.org/officeDocument/2006/relationships/image"/><Relationship Id="rId15" Target="../notesSlides/notesSlide14.xml" Type="http://schemas.openxmlformats.org/officeDocument/2006/relationships/notesSlide"/><Relationship Id="rId2" Target="../media/image19.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85.png" Type="http://schemas.openxmlformats.org/officeDocument/2006/relationships/image"/><Relationship Id="rId6" Target="../media/image86.svg" Type="http://schemas.openxmlformats.org/officeDocument/2006/relationships/image"/><Relationship Id="rId7" Target="../media/image87.png" Type="http://schemas.openxmlformats.org/officeDocument/2006/relationships/image"/><Relationship Id="rId8" Target="../media/image88.svg" Type="http://schemas.openxmlformats.org/officeDocument/2006/relationships/image"/><Relationship Id="rId9" Target="../media/image8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0.svg" Type="http://schemas.openxmlformats.org/officeDocument/2006/relationships/image"/><Relationship Id="rId11" Target="../media/image101.png" Type="http://schemas.openxmlformats.org/officeDocument/2006/relationships/image"/><Relationship Id="rId12" Target="../media/image102.svg" Type="http://schemas.openxmlformats.org/officeDocument/2006/relationships/image"/><Relationship Id="rId13" Target="../media/image103.png" Type="http://schemas.openxmlformats.org/officeDocument/2006/relationships/image"/><Relationship Id="rId14" Target="../media/image104.svg" Type="http://schemas.openxmlformats.org/officeDocument/2006/relationships/image"/><Relationship Id="rId15" Target="../media/image105.png" Type="http://schemas.openxmlformats.org/officeDocument/2006/relationships/image"/><Relationship Id="rId16" Target="../media/image106.svg" Type="http://schemas.openxmlformats.org/officeDocument/2006/relationships/image"/><Relationship Id="rId17" Target="../notesSlides/notesSlide16.xml" Type="http://schemas.openxmlformats.org/officeDocument/2006/relationships/notesSlide"/><Relationship Id="rId2" Target="../media/image19.jpeg" Type="http://schemas.openxmlformats.org/officeDocument/2006/relationships/image"/><Relationship Id="rId3" Target="../media/image93.png" Type="http://schemas.openxmlformats.org/officeDocument/2006/relationships/image"/><Relationship Id="rId4" Target="../media/image94.svg" Type="http://schemas.openxmlformats.org/officeDocument/2006/relationships/image"/><Relationship Id="rId5" Target="../media/image95.png" Type="http://schemas.openxmlformats.org/officeDocument/2006/relationships/image"/><Relationship Id="rId6" Target="../media/image96.svg" Type="http://schemas.openxmlformats.org/officeDocument/2006/relationships/image"/><Relationship Id="rId7" Target="../media/image97.png" Type="http://schemas.openxmlformats.org/officeDocument/2006/relationships/image"/><Relationship Id="rId8" Target="../media/image98.svg" Type="http://schemas.openxmlformats.org/officeDocument/2006/relationships/image"/><Relationship Id="rId9" Target="../media/image9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107.png" Type="http://schemas.openxmlformats.org/officeDocument/2006/relationships/image"/><Relationship Id="rId4" Target="../media/image108.svg" Type="http://schemas.openxmlformats.org/officeDocument/2006/relationships/image"/><Relationship Id="rId5"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5.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media/image111.png" Type="http://schemas.openxmlformats.org/officeDocument/2006/relationships/image"/><Relationship Id="rId14" Target="../media/image112.svg" Type="http://schemas.openxmlformats.org/officeDocument/2006/relationships/image"/><Relationship Id="rId15" Target="../notesSlides/notesSlide18.xml" Type="http://schemas.openxmlformats.org/officeDocument/2006/relationships/notesSlide"/><Relationship Id="rId2" Target="../media/image19.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09.png" Type="http://schemas.openxmlformats.org/officeDocument/2006/relationships/image"/><Relationship Id="rId8" Target="../media/image110.svg" Type="http://schemas.openxmlformats.org/officeDocument/2006/relationships/image"/><Relationship Id="rId9" Target="../media/image2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svg" Type="http://schemas.openxmlformats.org/officeDocument/2006/relationships/image"/><Relationship Id="rId11" Target="../media/image117.png" Type="http://schemas.openxmlformats.org/officeDocument/2006/relationships/image"/><Relationship Id="rId12" Target="../media/image118.svg" Type="http://schemas.openxmlformats.org/officeDocument/2006/relationships/image"/><Relationship Id="rId13" Target="../media/image119.png" Type="http://schemas.openxmlformats.org/officeDocument/2006/relationships/image"/><Relationship Id="rId14" Target="../media/image120.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media/image123.png" Type="http://schemas.openxmlformats.org/officeDocument/2006/relationships/image"/><Relationship Id="rId18" Target="../media/image124.svg" Type="http://schemas.openxmlformats.org/officeDocument/2006/relationships/image"/><Relationship Id="rId19" Target="../notesSlides/notesSlide19.xml" Type="http://schemas.openxmlformats.org/officeDocument/2006/relationships/notesSlide"/><Relationship Id="rId2" Target="../media/image19.jpeg" Type="http://schemas.openxmlformats.org/officeDocument/2006/relationships/image"/><Relationship Id="rId3" Target="../media/image113.png" Type="http://schemas.openxmlformats.org/officeDocument/2006/relationships/image"/><Relationship Id="rId4" Target="../media/image114.svg" Type="http://schemas.openxmlformats.org/officeDocument/2006/relationships/image"/><Relationship Id="rId5" Target="../media/image89.png" Type="http://schemas.openxmlformats.org/officeDocument/2006/relationships/image"/><Relationship Id="rId6" Target="../media/image90.svg" Type="http://schemas.openxmlformats.org/officeDocument/2006/relationships/image"/><Relationship Id="rId7" Target="../media/image115.png" Type="http://schemas.openxmlformats.org/officeDocument/2006/relationships/image"/><Relationship Id="rId8" Target="../media/image116.svg" Type="http://schemas.openxmlformats.org/officeDocument/2006/relationships/image"/><Relationship Id="rId9"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125.png" Type="http://schemas.openxmlformats.org/officeDocument/2006/relationships/image"/><Relationship Id="rId4" Target="../media/image126.svg" Type="http://schemas.openxmlformats.org/officeDocument/2006/relationships/image"/><Relationship Id="rId5" Target="../notesSlides/notesSlide20.xml" Type="http://schemas.openxmlformats.org/officeDocument/2006/relationships/notesSlide"/><Relationship Id="rId6" Target="../media/image1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810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2032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爱鹏航——AI初中—高中贯通升学成长一体化平台</a:t>
            </a:r>
            <a:endParaRPr lang="en-US" sz="1100"/>
          </a:p>
        </p:txBody>
      </p:sp>
      <p:sp>
        <p:nvSpPr>
          <p:cNvPr name="AutoShape 5" id="5"/>
          <p:cNvSpPr/>
          <p:nvPr/>
        </p:nvSpPr>
        <p:spPr>
          <a:xfrm rot="0" flipH="false" flipV="false">
            <a:off x="5715000" y="2921000"/>
            <a:ext cx="762000" cy="50800"/>
          </a:xfrm>
          <a:prstGeom prst="roundRect">
            <a:avLst>
              <a:gd name="adj" fmla="val 0"/>
            </a:avLst>
          </a:prstGeom>
          <a:solidFill>
            <a:srgbClr val="FF7D00">
              <a:alpha val="100000"/>
            </a:srgbClr>
          </a:solidFill>
          <a:ln cmpd="sng" cap="flat">
            <a:solidFill>
              <a:srgbClr val="E67000">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3175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0F2F5"/>
                </a:solidFill>
                <a:latin typeface="Noto Sans SC"/>
                <a:ea typeface="Noto Sans SC"/>
                <a:cs typeface="Noto Sans SC"/>
                <a:sym typeface="Noto Sans SC"/>
              </a:rPr>
              <a:t>全链路智慧教育解决方案</a:t>
            </a:r>
            <a:endParaRPr lang="en-US" sz="1100"/>
          </a:p>
        </p:txBody>
      </p:sp>
      <p:sp>
        <p:nvSpPr>
          <p:cNvPr name="AutoShape 7" id="7"/>
          <p:cNvSpPr/>
          <p:nvPr/>
        </p:nvSpPr>
        <p:spPr>
          <a:xfrm rot="0" flipH="false" flipV="false">
            <a:off x="0" y="5842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E5E6EB"/>
                </a:solidFill>
                <a:latin typeface="Noto Sans SC"/>
                <a:ea typeface="Noto Sans SC"/>
                <a:cs typeface="Noto Sans SC"/>
                <a:sym typeface="Noto Sans SC"/>
              </a:rPr>
              <a:t>汇报单位: [请填写单位名称] | 日期: 2026年3月</a:t>
            </a:r>
            <a:endParaRPr lang="en-US" sz="1100"/>
          </a:p>
        </p:txBody>
      </p:sp>
      <p:sp>
        <p:nvSpPr>
          <p:cNvPr name="AutoShape 8" id="8"/>
          <p:cNvSpPr/>
          <p:nvPr/>
        </p:nvSpPr>
        <p:spPr>
          <a:xfrm rot="0" flipH="false" flipV="false">
            <a:off x="0" y="0"/>
            <a:ext cx="12192000" cy="25400"/>
          </a:xfrm>
          <a:prstGeom prst="roundRect">
            <a:avLst>
              <a:gd name="adj" fmla="val 0"/>
            </a:avLst>
          </a:prstGeom>
          <a:gradFill rotWithShape="true">
            <a:gsLst>
              <a:gs pos="0">
                <a:srgbClr val="0052FF">
                  <a:alpha val="0"/>
                </a:srgbClr>
              </a:gs>
              <a:gs pos="50000">
                <a:srgbClr val="0052FF">
                  <a:alpha val="100000"/>
                </a:srgbClr>
              </a:gs>
              <a:gs pos="100000">
                <a:srgbClr val="0052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5029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目录 CONTENTS</a:t>
            </a:r>
            <a:endParaRPr lang="en-US" sz="1100"/>
          </a:p>
        </p:txBody>
      </p:sp>
      <p:sp>
        <p:nvSpPr>
          <p:cNvPr name="AutoShape 5" id="5"/>
          <p:cNvSpPr/>
          <p:nvPr/>
        </p:nvSpPr>
        <p:spPr>
          <a:xfrm rot="0" flipH="false" flipV="false">
            <a:off x="762000" y="1905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082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2082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01</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524000" y="2133600"/>
            <a:ext cx="304800" cy="304800"/>
          </a:xfrm>
          <a:prstGeom prst="rect">
            <a:avLst/>
          </a:prstGeom>
        </p:spPr>
      </p:pic>
      <p:sp>
        <p:nvSpPr>
          <p:cNvPr name="AutoShape 9" id="9"/>
          <p:cNvSpPr/>
          <p:nvPr/>
        </p:nvSpPr>
        <p:spPr>
          <a:xfrm rot="0" flipH="false" flipV="false">
            <a:off x="1968500" y="2095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项目概述</a:t>
            </a:r>
            <a:endParaRPr lang="en-US" sz="1100"/>
          </a:p>
        </p:txBody>
      </p:sp>
      <p:sp>
        <p:nvSpPr>
          <p:cNvPr name="AutoShape 10" id="10"/>
          <p:cNvSpPr/>
          <p:nvPr/>
        </p:nvSpPr>
        <p:spPr>
          <a:xfrm rot="0" flipH="false" flipV="false">
            <a:off x="762000" y="2794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2971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52500" y="2971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02</a:t>
            </a:r>
            <a:endParaRPr lang="en-US" sz="1100"/>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524000" y="3022600"/>
            <a:ext cx="304800" cy="304800"/>
          </a:xfrm>
          <a:prstGeom prst="rect">
            <a:avLst/>
          </a:prstGeom>
        </p:spPr>
      </p:pic>
      <p:sp>
        <p:nvSpPr>
          <p:cNvPr name="AutoShape 14" id="14"/>
          <p:cNvSpPr/>
          <p:nvPr/>
        </p:nvSpPr>
        <p:spPr>
          <a:xfrm rot="0" flipH="false" flipV="false">
            <a:off x="1968500" y="298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需求分析</a:t>
            </a:r>
            <a:endParaRPr lang="en-US" sz="1100"/>
          </a:p>
        </p:txBody>
      </p:sp>
      <p:sp>
        <p:nvSpPr>
          <p:cNvPr name="AutoShape 15" id="15"/>
          <p:cNvSpPr/>
          <p:nvPr/>
        </p:nvSpPr>
        <p:spPr>
          <a:xfrm rot="0" flipH="false" flipV="false">
            <a:off x="762000" y="3683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52500" y="3860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3860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03</a:t>
            </a:r>
            <a:endParaRPr lang="en-US" sz="1100"/>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524000" y="3911600"/>
            <a:ext cx="304800" cy="304800"/>
          </a:xfrm>
          <a:prstGeom prst="rect">
            <a:avLst/>
          </a:prstGeom>
        </p:spPr>
      </p:pic>
      <p:sp>
        <p:nvSpPr>
          <p:cNvPr name="AutoShape 19" id="19"/>
          <p:cNvSpPr/>
          <p:nvPr/>
        </p:nvSpPr>
        <p:spPr>
          <a:xfrm rot="0" flipH="false" flipV="false">
            <a:off x="1968500" y="3873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核心功能(AI强化)</a:t>
            </a:r>
            <a:endParaRPr lang="en-US" sz="1100"/>
          </a:p>
        </p:txBody>
      </p:sp>
      <p:sp>
        <p:nvSpPr>
          <p:cNvPr name="AutoShape 20" id="20"/>
          <p:cNvSpPr/>
          <p:nvPr/>
        </p:nvSpPr>
        <p:spPr>
          <a:xfrm rot="0" flipH="false" flipV="false">
            <a:off x="762000" y="4572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52500" y="4749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52500" y="4749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04</a:t>
            </a:r>
            <a:endParaRPr lang="en-US" sz="1100"/>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524000" y="4800600"/>
            <a:ext cx="304800" cy="304800"/>
          </a:xfrm>
          <a:prstGeom prst="rect">
            <a:avLst/>
          </a:prstGeom>
        </p:spPr>
      </p:pic>
      <p:sp>
        <p:nvSpPr>
          <p:cNvPr name="AutoShape 24" id="24"/>
          <p:cNvSpPr/>
          <p:nvPr/>
        </p:nvSpPr>
        <p:spPr>
          <a:xfrm rot="0" flipH="false" flipV="false">
            <a:off x="1968500" y="4762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技术架构</a:t>
            </a:r>
            <a:endParaRPr lang="en-US" sz="1100"/>
          </a:p>
        </p:txBody>
      </p:sp>
      <p:sp>
        <p:nvSpPr>
          <p:cNvPr name="AutoShape 25" id="25"/>
          <p:cNvSpPr/>
          <p:nvPr/>
        </p:nvSpPr>
        <p:spPr>
          <a:xfrm rot="0" flipH="false" flipV="false">
            <a:off x="6350000" y="1905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540500" y="2082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540500" y="2082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05</a:t>
            </a:r>
            <a:endParaRPr lang="en-US" sz="1100"/>
          </a:p>
        </p:txBody>
      </p:sp>
      <p:pic>
        <p:nvPicPr>
          <p:cNvPr name="Picture 28" id="2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7112000" y="2133600"/>
            <a:ext cx="304800" cy="304800"/>
          </a:xfrm>
          <a:prstGeom prst="rect">
            <a:avLst/>
          </a:prstGeom>
        </p:spPr>
      </p:pic>
      <p:sp>
        <p:nvSpPr>
          <p:cNvPr name="AutoShape 29" id="29"/>
          <p:cNvSpPr/>
          <p:nvPr/>
        </p:nvSpPr>
        <p:spPr>
          <a:xfrm rot="0" flipH="false" flipV="false">
            <a:off x="7556500" y="2095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实施计划</a:t>
            </a:r>
            <a:endParaRPr lang="en-US" sz="1100"/>
          </a:p>
        </p:txBody>
      </p:sp>
      <p:sp>
        <p:nvSpPr>
          <p:cNvPr name="AutoShape 30" id="30"/>
          <p:cNvSpPr/>
          <p:nvPr/>
        </p:nvSpPr>
        <p:spPr>
          <a:xfrm rot="0" flipH="false" flipV="false">
            <a:off x="6350000" y="2794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540500" y="2971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540500" y="2971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06</a:t>
            </a:r>
            <a:endParaRPr lang="en-US" sz="1100"/>
          </a:p>
        </p:txBody>
      </p:sp>
      <p:pic>
        <p:nvPicPr>
          <p:cNvPr name="Picture 33" id="3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7112000" y="3022600"/>
            <a:ext cx="304800" cy="304800"/>
          </a:xfrm>
          <a:prstGeom prst="rect">
            <a:avLst/>
          </a:prstGeom>
        </p:spPr>
      </p:pic>
      <p:sp>
        <p:nvSpPr>
          <p:cNvPr name="AutoShape 34" id="34"/>
          <p:cNvSpPr/>
          <p:nvPr/>
        </p:nvSpPr>
        <p:spPr>
          <a:xfrm rot="0" flipH="false" flipV="false">
            <a:off x="7556500" y="298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预期成效</a:t>
            </a:r>
            <a:endParaRPr lang="en-US" sz="1100"/>
          </a:p>
        </p:txBody>
      </p:sp>
      <p:sp>
        <p:nvSpPr>
          <p:cNvPr name="AutoShape 35" id="35"/>
          <p:cNvSpPr/>
          <p:nvPr/>
        </p:nvSpPr>
        <p:spPr>
          <a:xfrm rot="0" flipH="false" flipV="false">
            <a:off x="6350000" y="3683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540500" y="3860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540500" y="3860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07</a:t>
            </a:r>
            <a:endParaRPr lang="en-US" sz="1100"/>
          </a:p>
        </p:txBody>
      </p:sp>
      <p:pic>
        <p:nvPicPr>
          <p:cNvPr name="Picture 38" id="38"/>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7112000" y="3911600"/>
            <a:ext cx="304800" cy="304800"/>
          </a:xfrm>
          <a:prstGeom prst="rect">
            <a:avLst/>
          </a:prstGeom>
        </p:spPr>
      </p:pic>
      <p:sp>
        <p:nvSpPr>
          <p:cNvPr name="AutoShape 39" id="39"/>
          <p:cNvSpPr/>
          <p:nvPr/>
        </p:nvSpPr>
        <p:spPr>
          <a:xfrm rot="0" flipH="false" flipV="false">
            <a:off x="7556500" y="3873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安全与合规</a:t>
            </a:r>
            <a:endParaRPr lang="en-US" sz="1100"/>
          </a:p>
        </p:txBody>
      </p:sp>
      <p:sp>
        <p:nvSpPr>
          <p:cNvPr name="AutoShape 40" id="40"/>
          <p:cNvSpPr/>
          <p:nvPr/>
        </p:nvSpPr>
        <p:spPr>
          <a:xfrm rot="0" flipH="false" flipV="false">
            <a:off x="6350000" y="4572000"/>
            <a:ext cx="5080000" cy="762000"/>
          </a:xfrm>
          <a:prstGeom prst="roundRect">
            <a:avLst>
              <a:gd name="adj" fmla="val 16666"/>
            </a:avLst>
          </a:prstGeom>
          <a:solidFill>
            <a:srgbClr val="F0F2F5">
              <a:alpha val="100000"/>
            </a:srgbClr>
          </a:solidFill>
          <a:ln w="25400" cmpd="sng" cap="flat">
            <a:noFill/>
            <a:prstDash val="solid"/>
            <a:round/>
          </a:ln>
          <a:effectLst>
            <a:outerShdw dir="5400000" dist="50800" blurRad="1016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6540500" y="4749800"/>
            <a:ext cx="406400" cy="406400"/>
          </a:xfrm>
          <a:prstGeom prst="ellipse">
            <a:avLst/>
          </a:prstGeom>
          <a:solidFill>
            <a:srgbClr val="FF7D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6540500" y="47498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08</a:t>
            </a:r>
            <a:endParaRPr lang="en-US" sz="1100"/>
          </a:p>
        </p:txBody>
      </p:sp>
      <p:pic>
        <p:nvPicPr>
          <p:cNvPr name="Picture 43" id="43"/>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7112000" y="4800600"/>
            <a:ext cx="304800" cy="304800"/>
          </a:xfrm>
          <a:prstGeom prst="rect">
            <a:avLst/>
          </a:prstGeom>
        </p:spPr>
      </p:pic>
      <p:sp>
        <p:nvSpPr>
          <p:cNvPr name="AutoShape 44" id="44"/>
          <p:cNvSpPr/>
          <p:nvPr/>
        </p:nvSpPr>
        <p:spPr>
          <a:xfrm rot="0" flipH="false" flipV="false">
            <a:off x="7556500" y="4762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总结</a:t>
            </a:r>
            <a:endParaRPr lang="en-US" sz="1100"/>
          </a:p>
        </p:txBody>
      </p:sp>
      <p:sp>
        <p:nvSpPr>
          <p:cNvPr name="AutoShape 45" id="45"/>
          <p:cNvSpPr/>
          <p:nvPr/>
        </p:nvSpPr>
        <p:spPr>
          <a:xfrm rot="0" flipH="false" flipV="false">
            <a:off x="762000" y="5715000"/>
            <a:ext cx="10668000" cy="25400"/>
          </a:xfrm>
          <a:prstGeom prst="roundRect">
            <a:avLst>
              <a:gd name="adj" fmla="val 0"/>
            </a:avLst>
          </a:prstGeom>
          <a:solidFill>
            <a:srgbClr val="E5E6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762000" y="5842000"/>
            <a:ext cx="10668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400">
                <a:solidFill>
                  <a:srgbClr val="999999"/>
                </a:solidFill>
                <a:latin typeface="Noto Sans SC"/>
                <a:ea typeface="Noto Sans SC"/>
                <a:cs typeface="Noto Sans SC"/>
                <a:sym typeface="Noto Sans SC"/>
              </a:rPr>
              <a:t>AI赋能 · 智能升级 · 高效协同</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2F5">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257800" y="1651000"/>
            <a:ext cx="1676400" cy="889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6000">
                <a:solidFill>
                  <a:srgbClr val="FF7D00"/>
                </a:solidFill>
                <a:latin typeface="Noto Sans SC"/>
                <a:ea typeface="Noto Sans SC"/>
                <a:cs typeface="Noto Sans SC"/>
                <a:sym typeface="Noto Sans SC"/>
              </a:rPr>
              <a:t>01</a:t>
            </a:r>
            <a:endParaRPr lang="en-US" sz="1100"/>
          </a:p>
        </p:txBody>
      </p:sp>
      <p:sp>
        <p:nvSpPr>
          <p:cNvPr name="AutoShape 5" id="5"/>
          <p:cNvSpPr/>
          <p:nvPr/>
        </p:nvSpPr>
        <p:spPr>
          <a:xfrm rot="0" flipH="false" flipV="false">
            <a:off x="4978400" y="2540000"/>
            <a:ext cx="22352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0052FF"/>
                </a:solidFill>
                <a:latin typeface="Noto Sans SC"/>
                <a:ea typeface="Noto Sans SC"/>
                <a:cs typeface="Noto Sans SC"/>
                <a:sym typeface="Noto Sans SC"/>
              </a:rPr>
              <a:t>项目概述</a:t>
            </a:r>
            <a:endParaRPr lang="en-US" sz="1100"/>
          </a:p>
        </p:txBody>
      </p:sp>
      <p:sp>
        <p:nvSpPr>
          <p:cNvPr name="AutoShape 6" id="6"/>
          <p:cNvSpPr/>
          <p:nvPr/>
        </p:nvSpPr>
        <p:spPr>
          <a:xfrm rot="0" flipH="false" flipV="false">
            <a:off x="5715000" y="3302000"/>
            <a:ext cx="762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4089400" y="3556000"/>
            <a:ext cx="4025900" cy="4445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a:solidFill>
                  <a:srgbClr val="333333"/>
                </a:solidFill>
                <a:latin typeface="Noto Sans SC"/>
                <a:ea typeface="Noto Sans SC"/>
                <a:cs typeface="Noto Sans SC"/>
                <a:sym typeface="Noto Sans SC"/>
              </a:rPr>
              <a:t>一体化智慧教育解决方案</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318000"/>
            <a:ext cx="406400" cy="4064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一体化智慧教育解决方案</a:t>
            </a:r>
            <a:endParaRPr lang="en-US" sz="1100"/>
          </a:p>
        </p:txBody>
      </p:sp>
      <p:sp>
        <p:nvSpPr>
          <p:cNvPr name="AutoShape 5" id="5"/>
          <p:cNvSpPr/>
          <p:nvPr/>
        </p:nvSpPr>
        <p:spPr>
          <a:xfrm rot="0" flipH="false" flipV="false">
            <a:off x="762000" y="1651000"/>
            <a:ext cx="5334000" cy="1270000"/>
          </a:xfrm>
          <a:prstGeom prst="roundRect">
            <a:avLst>
              <a:gd name="adj" fmla="val 10000"/>
            </a:avLst>
          </a:prstGeom>
          <a:solidFill>
            <a:srgbClr val="F0F2F5">
              <a:alpha val="100000"/>
            </a:srgbClr>
          </a:solidFill>
          <a:ln cmpd="sng" cap="flat">
            <a:solidFill>
              <a:srgbClr val="C1CCDC">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406400" cy="406400"/>
          </a:xfrm>
          <a:prstGeom prst="rect">
            <a:avLst/>
          </a:prstGeom>
        </p:spPr>
      </p:pic>
      <p:sp>
        <p:nvSpPr>
          <p:cNvPr name="AutoShape 7" id="7"/>
          <p:cNvSpPr/>
          <p:nvPr/>
        </p:nvSpPr>
        <p:spPr>
          <a:xfrm rot="0" flipH="false" flipV="false">
            <a:off x="1524000" y="1803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全链路覆盖</a:t>
            </a:r>
            <a:endParaRPr lang="en-US" sz="1100"/>
          </a:p>
        </p:txBody>
      </p:sp>
      <p:sp>
        <p:nvSpPr>
          <p:cNvPr name="AutoShape 8" id="8"/>
          <p:cNvSpPr/>
          <p:nvPr/>
        </p:nvSpPr>
        <p:spPr>
          <a:xfrm rot="0" flipH="false" flipV="false">
            <a:off x="1524000" y="2222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A73"/>
                </a:solidFill>
                <a:latin typeface="Noto Sans SC"/>
                <a:ea typeface="Noto Sans SC"/>
                <a:cs typeface="Noto Sans SC"/>
                <a:sym typeface="Noto Sans SC"/>
              </a:rPr>
              <a:t>AI贯穿“初三备考→高中择校→志愿填报→高一衔接→学业成长”完整升学链路。</a:t>
            </a:r>
            <a:endParaRPr lang="en-US" sz="1100"/>
          </a:p>
        </p:txBody>
      </p:sp>
      <p:sp>
        <p:nvSpPr>
          <p:cNvPr name="AutoShape 9" id="9"/>
          <p:cNvSpPr/>
          <p:nvPr/>
        </p:nvSpPr>
        <p:spPr>
          <a:xfrm rot="0" flipH="false" flipV="false">
            <a:off x="762000" y="3111500"/>
            <a:ext cx="5334000" cy="1270000"/>
          </a:xfrm>
          <a:prstGeom prst="roundRect">
            <a:avLst>
              <a:gd name="adj" fmla="val 10000"/>
            </a:avLst>
          </a:prstGeom>
          <a:solidFill>
            <a:srgbClr val="F0F2F5">
              <a:alpha val="100000"/>
            </a:srgbClr>
          </a:solidFill>
          <a:ln cmpd="sng" cap="flat">
            <a:solidFill>
              <a:srgbClr val="C1CCDC">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302000"/>
            <a:ext cx="406400" cy="406400"/>
          </a:xfrm>
          <a:prstGeom prst="rect">
            <a:avLst/>
          </a:prstGeom>
        </p:spPr>
      </p:pic>
      <p:sp>
        <p:nvSpPr>
          <p:cNvPr name="AutoShape 11" id="11"/>
          <p:cNvSpPr/>
          <p:nvPr/>
        </p:nvSpPr>
        <p:spPr>
          <a:xfrm rot="0" flipH="false" flipV="false">
            <a:off x="1524000" y="32639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服务对象</a:t>
            </a:r>
            <a:endParaRPr lang="en-US" sz="1100"/>
          </a:p>
        </p:txBody>
      </p:sp>
      <p:sp>
        <p:nvSpPr>
          <p:cNvPr name="AutoShape 12" id="12"/>
          <p:cNvSpPr/>
          <p:nvPr/>
        </p:nvSpPr>
        <p:spPr>
          <a:xfrm rot="0" flipH="false" flipV="false">
            <a:off x="1524000" y="3683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A73"/>
                </a:solidFill>
                <a:latin typeface="Noto Sans SC"/>
                <a:ea typeface="Noto Sans SC"/>
                <a:cs typeface="Noto Sans SC"/>
                <a:sym typeface="Noto Sans SC"/>
              </a:rPr>
              <a:t>面向全国的中学与家长，提供一体化的智慧教育服务，助力教育资源均衡化。</a:t>
            </a:r>
            <a:endParaRPr lang="en-US" sz="1100"/>
          </a:p>
        </p:txBody>
      </p:sp>
      <p:sp>
        <p:nvSpPr>
          <p:cNvPr name="AutoShape 13" id="13"/>
          <p:cNvSpPr/>
          <p:nvPr/>
        </p:nvSpPr>
        <p:spPr>
          <a:xfrm rot="0" flipH="false" flipV="false">
            <a:off x="762000" y="4572000"/>
            <a:ext cx="5334000" cy="1270000"/>
          </a:xfrm>
          <a:prstGeom prst="roundRect">
            <a:avLst>
              <a:gd name="adj" fmla="val 10000"/>
            </a:avLst>
          </a:prstGeom>
          <a:solidFill>
            <a:srgbClr val="F0F2F5">
              <a:alpha val="100000"/>
            </a:srgbClr>
          </a:solidFill>
          <a:ln cmpd="sng" cap="flat">
            <a:solidFill>
              <a:srgbClr val="C1CCDC">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762500"/>
            <a:ext cx="406400" cy="406400"/>
          </a:xfrm>
          <a:prstGeom prst="rect">
            <a:avLst/>
          </a:prstGeom>
        </p:spPr>
      </p:pic>
      <p:sp>
        <p:nvSpPr>
          <p:cNvPr name="AutoShape 15" id="15"/>
          <p:cNvSpPr/>
          <p:nvPr/>
        </p:nvSpPr>
        <p:spPr>
          <a:xfrm rot="0" flipH="false" flipV="false">
            <a:off x="1524000" y="4724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核心优势</a:t>
            </a:r>
            <a:endParaRPr lang="en-US" sz="1100"/>
          </a:p>
        </p:txBody>
      </p:sp>
      <p:sp>
        <p:nvSpPr>
          <p:cNvPr name="AutoShape 16" id="16"/>
          <p:cNvSpPr/>
          <p:nvPr/>
        </p:nvSpPr>
        <p:spPr>
          <a:xfrm rot="0" flipH="false" flipV="false">
            <a:off x="1524000" y="5143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A73"/>
                </a:solidFill>
                <a:latin typeface="Noto Sans SC"/>
                <a:ea typeface="Noto Sans SC"/>
                <a:cs typeface="Noto Sans SC"/>
                <a:sym typeface="Noto Sans SC"/>
              </a:rPr>
              <a:t>打破信息孤岛，实现用户一致、场景连续、数据互通、AI共用，提供无缝衔接体验。</a:t>
            </a:r>
            <a:endParaRPr lang="en-US" sz="1100"/>
          </a:p>
        </p:txBody>
      </p:sp>
      <p:sp>
        <p:nvSpPr>
          <p:cNvPr name="AutoShape 17" id="17"/>
          <p:cNvSpPr/>
          <p:nvPr/>
        </p:nvSpPr>
        <p:spPr>
          <a:xfrm rot="0" flipH="false" flipV="false">
            <a:off x="7366000" y="1905000"/>
            <a:ext cx="3048000" cy="3048000"/>
          </a:xfrm>
          <a:prstGeom prst="ellipse">
            <a:avLst/>
          </a:prstGeom>
          <a:solidFill>
            <a:srgbClr val="0052FF">
              <a:alpha val="5000"/>
            </a:srgbClr>
          </a:solidFill>
          <a:ln w="12700" cmpd="sng" cap="flat">
            <a:solidFill>
              <a:srgbClr val="0052FF">
                <a:alpha val="20000"/>
              </a:srgbClr>
            </a:solidFill>
            <a:prstDash val="dash"/>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srcRect l="0" r="0" t="0" b="0"/>
          <a:stretch>
            <a:fillRect/>
          </a:stretch>
        </p:blipFill>
        <p:spPr>
          <a:xfrm rot="0" flipH="false" flipV="false">
            <a:off x="7620000" y="2159000"/>
            <a:ext cx="2540000" cy="2540000"/>
          </a:xfrm>
          <a:prstGeom prst="ellipse">
            <a:avLst/>
          </a:prstGeom>
          <a:noFill/>
          <a:ln w="25400" cmpd="sng" cap="flat">
            <a:noFill/>
            <a:prstDash val="solid"/>
            <a:round/>
          </a:ln>
        </p:spPr>
      </p:pic>
      <p:sp>
        <p:nvSpPr>
          <p:cNvPr name="AutoShape 19" id="19"/>
          <p:cNvSpPr/>
          <p:nvPr/>
        </p:nvSpPr>
        <p:spPr>
          <a:xfrm rot="0" flipH="false" flipV="false">
            <a:off x="7366000" y="4953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52FF"/>
                </a:solidFill>
                <a:latin typeface="Noto Sans SC"/>
                <a:ea typeface="Noto Sans SC"/>
                <a:cs typeface="Noto Sans SC"/>
                <a:sym typeface="Noto Sans SC"/>
              </a:rPr>
              <a:t>全链路一体化架构</a:t>
            </a:r>
            <a:endParaRPr lang="en-US" sz="1100"/>
          </a:p>
        </p:txBody>
      </p:sp>
      <p:sp>
        <p:nvSpPr>
          <p:cNvPr name="AutoShape 20" id="20"/>
          <p:cNvSpPr/>
          <p:nvPr/>
        </p:nvSpPr>
        <p:spPr>
          <a:xfrm rot="0" flipH="false" flipV="false">
            <a:off x="8255000" y="5397500"/>
            <a:ext cx="1270000" cy="304800"/>
          </a:xfrm>
          <a:prstGeom prst="roundRect">
            <a:avLst>
              <a:gd name="adj" fmla="val 50000"/>
            </a:avLst>
          </a:prstGeom>
          <a:solidFill>
            <a:srgbClr val="FF7D00">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FF7D00"/>
                </a:solidFill>
                <a:latin typeface="Noto Sans SC"/>
                <a:ea typeface="Noto Sans SC"/>
                <a:cs typeface="Noto Sans SC"/>
                <a:sym typeface="Noto Sans SC"/>
              </a:rPr>
              <a:t>AI 驱动</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2F5">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524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000">
                <a:solidFill>
                  <a:srgbClr val="FF7D00"/>
                </a:solidFill>
                <a:latin typeface="DIN Alternate"/>
                <a:ea typeface="DIN Alternate"/>
                <a:cs typeface="DIN Alternate"/>
                <a:sym typeface="DIN Alternate"/>
              </a:rPr>
              <a:t>02</a:t>
            </a:r>
            <a:endParaRPr lang="en-US" sz="1100"/>
          </a:p>
        </p:txBody>
      </p:sp>
      <p:sp>
        <p:nvSpPr>
          <p:cNvPr name="AutoShape 5" id="5"/>
          <p:cNvSpPr/>
          <p:nvPr/>
        </p:nvSpPr>
        <p:spPr>
          <a:xfrm rot="0" flipH="false" flipV="false">
            <a:off x="0" y="2540000"/>
            <a:ext cx="1219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400">
                <a:solidFill>
                  <a:srgbClr val="0052FF"/>
                </a:solidFill>
                <a:latin typeface="Noto Sans SC"/>
                <a:ea typeface="Noto Sans SC"/>
                <a:cs typeface="Noto Sans SC"/>
                <a:sym typeface="Noto Sans SC"/>
              </a:rPr>
              <a:t>需求分析</a:t>
            </a:r>
            <a:endParaRPr lang="en-US" sz="1100"/>
          </a:p>
        </p:txBody>
      </p:sp>
      <p:sp>
        <p:nvSpPr>
          <p:cNvPr name="AutoShape 6" id="6"/>
          <p:cNvSpPr/>
          <p:nvPr/>
        </p:nvSpPr>
        <p:spPr>
          <a:xfrm rot="0" flipH="false" flipV="false">
            <a:off x="5715000" y="3302000"/>
            <a:ext cx="762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3556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a:solidFill>
                  <a:srgbClr val="333333"/>
                </a:solidFill>
                <a:latin typeface="Noto Sans SC"/>
                <a:ea typeface="Noto Sans SC"/>
                <a:cs typeface="Noto Sans SC"/>
                <a:sym typeface="Noto Sans SC"/>
              </a:rPr>
              <a:t>家长面临的核心痛点</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318000"/>
            <a:ext cx="406400" cy="4064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2F5">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8051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家长面临的核心痛点与AI解决方案</a:t>
            </a:r>
            <a:endParaRPr lang="en-US" sz="1100"/>
          </a:p>
        </p:txBody>
      </p:sp>
      <p:sp>
        <p:nvSpPr>
          <p:cNvPr name="AutoShape 5" id="5"/>
          <p:cNvSpPr/>
          <p:nvPr/>
        </p:nvSpPr>
        <p:spPr>
          <a:xfrm rot="0" flipH="false" flipV="false">
            <a:off x="762000" y="1905000"/>
            <a:ext cx="5080000" cy="1651000"/>
          </a:xfrm>
          <a:prstGeom prst="roundRect">
            <a:avLst>
              <a:gd name="adj" fmla="val 7692"/>
            </a:avLst>
          </a:prstGeom>
          <a:solidFill>
            <a:srgbClr val="FFFFFF">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0" b="0"/>
          <a:stretch>
            <a:fillRect/>
          </a:stretch>
        </p:blipFill>
        <p:spPr>
          <a:xfrm rot="0" flipH="false" flipV="false">
            <a:off x="1016000" y="2159000"/>
            <a:ext cx="609600" cy="609600"/>
          </a:xfrm>
          <a:prstGeom prst="rect">
            <a:avLst/>
          </a:prstGeom>
          <a:noFill/>
          <a:ln w="25400" cmpd="sng" cap="flat">
            <a:noFill/>
            <a:prstDash val="solid"/>
            <a:round/>
          </a:ln>
        </p:spPr>
      </p:pic>
      <p:sp>
        <p:nvSpPr>
          <p:cNvPr name="AutoShape 7" id="7"/>
          <p:cNvSpPr/>
          <p:nvPr/>
        </p:nvSpPr>
        <p:spPr>
          <a:xfrm rot="0" flipH="false" flipV="false">
            <a:off x="1778000" y="2095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分数对应不明</a:t>
            </a:r>
            <a:endParaRPr lang="en-US" sz="1100"/>
          </a:p>
        </p:txBody>
      </p:sp>
      <p:sp>
        <p:nvSpPr>
          <p:cNvPr name="AutoShape 8" id="8"/>
          <p:cNvSpPr/>
          <p:nvPr/>
        </p:nvSpPr>
        <p:spPr>
          <a:xfrm rot="0" flipH="false" flipV="false">
            <a:off x="1778000" y="2476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55555"/>
                </a:solidFill>
                <a:latin typeface="Noto Sans SC"/>
                <a:ea typeface="Noto Sans SC"/>
                <a:cs typeface="Noto Sans SC"/>
                <a:sym typeface="Noto Sans SC"/>
              </a:rPr>
              <a:t>痛点：家长不知道孩子分数能上哪些学校，缺乏精准定位依据。</a:t>
            </a:r>
            <a:endParaRPr lang="en-US" sz="1100"/>
          </a:p>
        </p:txBody>
      </p:sp>
      <p:sp>
        <p:nvSpPr>
          <p:cNvPr name="AutoShape 9" id="9"/>
          <p:cNvSpPr/>
          <p:nvPr/>
        </p:nvSpPr>
        <p:spPr>
          <a:xfrm rot="0" flipH="false" flipV="false">
            <a:off x="1778000" y="2984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FF7D00"/>
                </a:solidFill>
                <a:latin typeface="Noto Sans SC"/>
                <a:ea typeface="Noto Sans SC"/>
                <a:cs typeface="Noto Sans SC"/>
                <a:sym typeface="Noto Sans SC"/>
              </a:rPr>
              <a:t>AI方案：AI分数预测与精准院校匹配</a:t>
            </a:r>
            <a:endParaRPr lang="en-US" sz="1100"/>
          </a:p>
        </p:txBody>
      </p:sp>
      <p:sp>
        <p:nvSpPr>
          <p:cNvPr name="AutoShape 10" id="10"/>
          <p:cNvSpPr/>
          <p:nvPr/>
        </p:nvSpPr>
        <p:spPr>
          <a:xfrm rot="0" flipH="false" flipV="false">
            <a:off x="6350000" y="1905000"/>
            <a:ext cx="5080000" cy="1651000"/>
          </a:xfrm>
          <a:prstGeom prst="roundRect">
            <a:avLst>
              <a:gd name="adj" fmla="val 7692"/>
            </a:avLst>
          </a:prstGeom>
          <a:solidFill>
            <a:srgbClr val="FFFFFF">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srcRect l="0" r="0" t="0" b="25000"/>
          <a:stretch>
            <a:fillRect/>
          </a:stretch>
        </p:blipFill>
        <p:spPr>
          <a:xfrm rot="0" flipH="false" flipV="false">
            <a:off x="6604000" y="2159000"/>
            <a:ext cx="609600" cy="609600"/>
          </a:xfrm>
          <a:prstGeom prst="rect">
            <a:avLst/>
          </a:prstGeom>
          <a:noFill/>
          <a:ln w="25400" cmpd="sng" cap="flat">
            <a:noFill/>
            <a:prstDash val="solid"/>
            <a:round/>
          </a:ln>
        </p:spPr>
      </p:pic>
      <p:sp>
        <p:nvSpPr>
          <p:cNvPr name="AutoShape 12" id="12"/>
          <p:cNvSpPr/>
          <p:nvPr/>
        </p:nvSpPr>
        <p:spPr>
          <a:xfrm rot="0" flipH="false" flipV="false">
            <a:off x="7366000" y="2095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政策理解困难</a:t>
            </a:r>
            <a:endParaRPr lang="en-US" sz="1100"/>
          </a:p>
        </p:txBody>
      </p:sp>
      <p:sp>
        <p:nvSpPr>
          <p:cNvPr name="AutoShape 13" id="13"/>
          <p:cNvSpPr/>
          <p:nvPr/>
        </p:nvSpPr>
        <p:spPr>
          <a:xfrm rot="0" flipH="false" flipV="false">
            <a:off x="7366000" y="2476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55555"/>
                </a:solidFill>
                <a:latin typeface="Noto Sans SC"/>
                <a:ea typeface="Noto Sans SC"/>
                <a:cs typeface="Noto Sans SC"/>
                <a:sym typeface="Noto Sans SC"/>
              </a:rPr>
              <a:t>痛点：不懂批次、定向、指标到校等复杂规则，容易误判。</a:t>
            </a:r>
            <a:endParaRPr lang="en-US" sz="1100"/>
          </a:p>
        </p:txBody>
      </p:sp>
      <p:sp>
        <p:nvSpPr>
          <p:cNvPr name="AutoShape 14" id="14"/>
          <p:cNvSpPr/>
          <p:nvPr/>
        </p:nvSpPr>
        <p:spPr>
          <a:xfrm rot="0" flipH="false" flipV="false">
            <a:off x="7366000" y="2984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FF7D00"/>
                </a:solidFill>
                <a:latin typeface="Noto Sans SC"/>
                <a:ea typeface="Noto Sans SC"/>
                <a:cs typeface="Noto Sans SC"/>
                <a:sym typeface="Noto Sans SC"/>
              </a:rPr>
              <a:t>AI方案：AI智能政策解读与场景化模拟</a:t>
            </a:r>
            <a:endParaRPr lang="en-US" sz="1100"/>
          </a:p>
        </p:txBody>
      </p:sp>
      <p:sp>
        <p:nvSpPr>
          <p:cNvPr name="AutoShape 15" id="15"/>
          <p:cNvSpPr/>
          <p:nvPr/>
        </p:nvSpPr>
        <p:spPr>
          <a:xfrm rot="0" flipH="false" flipV="false">
            <a:off x="762000" y="3810000"/>
            <a:ext cx="5080000" cy="1651000"/>
          </a:xfrm>
          <a:prstGeom prst="roundRect">
            <a:avLst>
              <a:gd name="adj" fmla="val 7692"/>
            </a:avLst>
          </a:prstGeom>
          <a:solidFill>
            <a:srgbClr val="FFFFFF">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srcRect l="0" r="0" t="0" b="25000"/>
          <a:stretch>
            <a:fillRect/>
          </a:stretch>
        </p:blipFill>
        <p:spPr>
          <a:xfrm rot="0" flipH="false" flipV="false">
            <a:off x="1016000" y="4064000"/>
            <a:ext cx="609600" cy="609600"/>
          </a:xfrm>
          <a:prstGeom prst="rect">
            <a:avLst/>
          </a:prstGeom>
          <a:noFill/>
          <a:ln w="25400" cmpd="sng" cap="flat">
            <a:noFill/>
            <a:prstDash val="solid"/>
            <a:round/>
          </a:ln>
        </p:spPr>
      </p:pic>
      <p:sp>
        <p:nvSpPr>
          <p:cNvPr name="AutoShape 17" id="17"/>
          <p:cNvSpPr/>
          <p:nvPr/>
        </p:nvSpPr>
        <p:spPr>
          <a:xfrm rot="0" flipH="false" flipV="false">
            <a:off x="1778000" y="4000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信息获取分散</a:t>
            </a:r>
            <a:endParaRPr lang="en-US" sz="1100"/>
          </a:p>
        </p:txBody>
      </p:sp>
      <p:sp>
        <p:nvSpPr>
          <p:cNvPr name="AutoShape 18" id="18"/>
          <p:cNvSpPr/>
          <p:nvPr/>
        </p:nvSpPr>
        <p:spPr>
          <a:xfrm rot="0" flipH="false" flipV="false">
            <a:off x="1778000" y="4381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55555"/>
                </a:solidFill>
                <a:latin typeface="Noto Sans SC"/>
                <a:ea typeface="Noto Sans SC"/>
                <a:cs typeface="Noto Sans SC"/>
                <a:sym typeface="Noto Sans SC"/>
              </a:rPr>
              <a:t>痛点：学校数据来源杂、真假难辨，收集整理耗时耗力。</a:t>
            </a:r>
            <a:endParaRPr lang="en-US" sz="1100"/>
          </a:p>
        </p:txBody>
      </p:sp>
      <p:sp>
        <p:nvSpPr>
          <p:cNvPr name="AutoShape 19" id="19"/>
          <p:cNvSpPr/>
          <p:nvPr/>
        </p:nvSpPr>
        <p:spPr>
          <a:xfrm rot="0" flipH="false" flipV="false">
            <a:off x="1778000" y="4889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FF7D00"/>
                </a:solidFill>
                <a:latin typeface="Noto Sans SC"/>
                <a:ea typeface="Noto Sans SC"/>
                <a:cs typeface="Noto Sans SC"/>
                <a:sym typeface="Noto Sans SC"/>
              </a:rPr>
              <a:t>AI方案：AI数据核验与权威爬虫库整合</a:t>
            </a:r>
            <a:endParaRPr lang="en-US" sz="1100"/>
          </a:p>
        </p:txBody>
      </p:sp>
      <p:sp>
        <p:nvSpPr>
          <p:cNvPr name="AutoShape 20" id="20"/>
          <p:cNvSpPr/>
          <p:nvPr/>
        </p:nvSpPr>
        <p:spPr>
          <a:xfrm rot="0" flipH="false" flipV="false">
            <a:off x="6350000" y="3810000"/>
            <a:ext cx="5080000" cy="1651000"/>
          </a:xfrm>
          <a:prstGeom prst="roundRect">
            <a:avLst>
              <a:gd name="adj" fmla="val 7692"/>
            </a:avLst>
          </a:prstGeom>
          <a:solidFill>
            <a:srgbClr val="FFFFFF">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srcRect l="0" r="0" t="0" b="0"/>
          <a:stretch>
            <a:fillRect/>
          </a:stretch>
        </p:blipFill>
        <p:spPr>
          <a:xfrm rot="0" flipH="false" flipV="false">
            <a:off x="6604000" y="4064000"/>
            <a:ext cx="609600" cy="609600"/>
          </a:xfrm>
          <a:prstGeom prst="rect">
            <a:avLst/>
          </a:prstGeom>
          <a:noFill/>
          <a:ln w="25400" cmpd="sng" cap="flat">
            <a:noFill/>
            <a:prstDash val="solid"/>
            <a:round/>
          </a:ln>
        </p:spPr>
      </p:pic>
      <p:sp>
        <p:nvSpPr>
          <p:cNvPr name="AutoShape 22" id="22"/>
          <p:cNvSpPr/>
          <p:nvPr/>
        </p:nvSpPr>
        <p:spPr>
          <a:xfrm rot="0" flipH="false" flipV="false">
            <a:off x="7366000" y="4000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志愿填报风险高</a:t>
            </a:r>
            <a:endParaRPr lang="en-US" sz="1100"/>
          </a:p>
        </p:txBody>
      </p:sp>
      <p:sp>
        <p:nvSpPr>
          <p:cNvPr name="AutoShape 23" id="23"/>
          <p:cNvSpPr/>
          <p:nvPr/>
        </p:nvSpPr>
        <p:spPr>
          <a:xfrm rot="0" flipH="false" flipV="false">
            <a:off x="7366000" y="4381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55555"/>
                </a:solidFill>
                <a:latin typeface="Noto Sans SC"/>
                <a:ea typeface="Noto Sans SC"/>
                <a:cs typeface="Noto Sans SC"/>
                <a:sym typeface="Noto Sans SC"/>
              </a:rPr>
              <a:t>痛点：怕滑档、怕浪费分数，缺乏科学的风险评估工具。</a:t>
            </a:r>
            <a:endParaRPr lang="en-US" sz="1100"/>
          </a:p>
        </p:txBody>
      </p:sp>
      <p:sp>
        <p:nvSpPr>
          <p:cNvPr name="AutoShape 24" id="24"/>
          <p:cNvSpPr/>
          <p:nvPr/>
        </p:nvSpPr>
        <p:spPr>
          <a:xfrm rot="0" flipH="false" flipV="false">
            <a:off x="7366000" y="4889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FF7D00"/>
                </a:solidFill>
                <a:latin typeface="Noto Sans SC"/>
                <a:ea typeface="Noto Sans SC"/>
                <a:cs typeface="Noto Sans SC"/>
                <a:sym typeface="Noto Sans SC"/>
              </a:rPr>
              <a:t>AI方案：AI志愿诊断与智能风险预警</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pic>
        <p:nvPicPr>
          <p:cNvPr name="Picture 3" id="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1270000"/>
            <a:ext cx="406400" cy="406400"/>
          </a:xfrm>
          <a:prstGeom prst="rect">
            <a:avLst/>
          </a:prstGeom>
        </p:spPr>
      </p:pic>
      <p:sp>
        <p:nvSpPr>
          <p:cNvPr name="AutoShape 4" id="4"/>
          <p:cNvSpPr/>
          <p:nvPr/>
        </p:nvSpPr>
        <p:spPr>
          <a:xfrm rot="0" flipH="false" flipV="false">
            <a:off x="5334000" y="1778000"/>
            <a:ext cx="1524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400">
                <a:solidFill>
                  <a:srgbClr val="FF7D00"/>
                </a:solidFill>
                <a:latin typeface="Noto Sans SC"/>
                <a:ea typeface="Noto Sans SC"/>
                <a:cs typeface="Noto Sans SC"/>
                <a:sym typeface="Noto Sans SC"/>
              </a:rPr>
              <a:t>03</a:t>
            </a:r>
            <a:endParaRPr lang="en-US" sz="1100"/>
          </a:p>
        </p:txBody>
      </p:sp>
      <p:sp>
        <p:nvSpPr>
          <p:cNvPr name="AutoShape 5" id="5"/>
          <p:cNvSpPr/>
          <p:nvPr/>
        </p:nvSpPr>
        <p:spPr>
          <a:xfrm rot="0" flipH="false" flipV="false">
            <a:off x="5715000" y="2730500"/>
            <a:ext cx="762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3581400" y="2984500"/>
            <a:ext cx="50292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0052FF"/>
                </a:solidFill>
                <a:latin typeface="Noto Sans SC"/>
                <a:ea typeface="Noto Sans SC"/>
                <a:cs typeface="Noto Sans SC"/>
                <a:sym typeface="Noto Sans SC"/>
              </a:rPr>
              <a:t>核心功能(AI强化)</a:t>
            </a:r>
            <a:endParaRPr lang="en-US" sz="1100"/>
          </a:p>
        </p:txBody>
      </p:sp>
      <p:sp>
        <p:nvSpPr>
          <p:cNvPr name="AutoShape 7" id="7"/>
          <p:cNvSpPr/>
          <p:nvPr/>
        </p:nvSpPr>
        <p:spPr>
          <a:xfrm rot="0" flipH="false" flipV="false">
            <a:off x="3556000" y="3683000"/>
            <a:ext cx="508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555555"/>
                </a:solidFill>
                <a:latin typeface="Noto Sans SC"/>
                <a:ea typeface="Noto Sans SC"/>
                <a:cs typeface="Noto Sans SC"/>
                <a:sym typeface="Noto Sans SC"/>
              </a:rPr>
              <a:t>AI全域赋能全流程</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AI全域赋能全流程</a:t>
            </a:r>
            <a:endParaRPr lang="en-US" sz="1100"/>
          </a:p>
        </p:txBody>
      </p:sp>
      <p:sp>
        <p:nvSpPr>
          <p:cNvPr name="AutoShape 5" id="5"/>
          <p:cNvSpPr/>
          <p:nvPr/>
        </p:nvSpPr>
        <p:spPr>
          <a:xfrm rot="0" flipH="false" flipV="false">
            <a:off x="762000" y="2032000"/>
            <a:ext cx="5080000" cy="1778000"/>
          </a:xfrm>
          <a:prstGeom prst="roundRect">
            <a:avLst>
              <a:gd name="adj" fmla="val 7142"/>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609600" cy="609600"/>
          </a:xfrm>
          <a:prstGeom prst="rect">
            <a:avLst/>
          </a:prstGeom>
        </p:spPr>
      </p:pic>
      <p:sp>
        <p:nvSpPr>
          <p:cNvPr name="AutoShape 7" id="7"/>
          <p:cNvSpPr/>
          <p:nvPr/>
        </p:nvSpPr>
        <p:spPr>
          <a:xfrm rot="0" flipH="false" flipV="false">
            <a:off x="1778000" y="2222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AI学业伴学板块</a:t>
            </a:r>
            <a:endParaRPr lang="en-US" sz="1100"/>
          </a:p>
        </p:txBody>
      </p:sp>
      <p:sp>
        <p:nvSpPr>
          <p:cNvPr name="AutoShape 8" id="8"/>
          <p:cNvSpPr/>
          <p:nvPr/>
        </p:nvSpPr>
        <p:spPr>
          <a:xfrm rot="0" flipH="false" flipV="false">
            <a:off x="1778000" y="2667000"/>
            <a:ext cx="381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333333"/>
                </a:solidFill>
                <a:latin typeface="Noto Sans SC"/>
                <a:ea typeface="Noto Sans SC"/>
                <a:cs typeface="Noto Sans SC"/>
                <a:sym typeface="Noto Sans SC"/>
              </a:rPr>
              <a:t>提供学情诊断、智能错题、口语伴学、作文批改、学习计划、模考分析等功能，全方位辅助学习。</a:t>
            </a:r>
            <a:endParaRPr lang="en-US" sz="1100"/>
          </a:p>
        </p:txBody>
      </p:sp>
      <p:sp>
        <p:nvSpPr>
          <p:cNvPr name="AutoShape 9" id="9"/>
          <p:cNvSpPr/>
          <p:nvPr/>
        </p:nvSpPr>
        <p:spPr>
          <a:xfrm rot="0" flipH="false" flipV="false">
            <a:off x="6350000" y="2032000"/>
            <a:ext cx="5080000" cy="1778000"/>
          </a:xfrm>
          <a:prstGeom prst="roundRect">
            <a:avLst>
              <a:gd name="adj" fmla="val 7142"/>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srcRect l="0" r="0" t="0" b="0"/>
          <a:stretch>
            <a:fillRect/>
          </a:stretch>
        </p:blipFill>
        <p:spPr>
          <a:xfrm rot="0" flipH="false" flipV="false">
            <a:off x="6604000" y="2286000"/>
            <a:ext cx="609600" cy="609600"/>
          </a:xfrm>
          <a:prstGeom prst="roundRect">
            <a:avLst>
              <a:gd name="adj" fmla="val 20833"/>
            </a:avLst>
          </a:prstGeom>
          <a:noFill/>
          <a:ln w="25400" cmpd="sng" cap="flat">
            <a:noFill/>
            <a:prstDash val="solid"/>
            <a:round/>
          </a:ln>
        </p:spPr>
      </p:pic>
      <p:sp>
        <p:nvSpPr>
          <p:cNvPr name="AutoShape 11" id="11"/>
          <p:cNvSpPr/>
          <p:nvPr/>
        </p:nvSpPr>
        <p:spPr>
          <a:xfrm rot="0" flipH="false" flipV="false">
            <a:off x="7366000" y="2222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AI志愿填报引擎</a:t>
            </a:r>
            <a:endParaRPr lang="en-US" sz="1100"/>
          </a:p>
        </p:txBody>
      </p:sp>
      <p:sp>
        <p:nvSpPr>
          <p:cNvPr name="AutoShape 12" id="12"/>
          <p:cNvSpPr/>
          <p:nvPr/>
        </p:nvSpPr>
        <p:spPr>
          <a:xfrm rot="0" flipH="false" flipV="false">
            <a:off x="7366000" y="2667000"/>
            <a:ext cx="381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333333"/>
                </a:solidFill>
                <a:latin typeface="Noto Sans SC"/>
                <a:ea typeface="Noto Sans SC"/>
                <a:cs typeface="Noto Sans SC"/>
                <a:sym typeface="Noto Sans SC"/>
              </a:rPr>
              <a:t>实现冲稳保智能生成、滑档风险检测、区域政策适配、志愿模拟及全国规则引擎，科学规划升学路径。</a:t>
            </a:r>
            <a:endParaRPr lang="en-US" sz="1100"/>
          </a:p>
        </p:txBody>
      </p:sp>
      <p:sp>
        <p:nvSpPr>
          <p:cNvPr name="AutoShape 13" id="13"/>
          <p:cNvSpPr/>
          <p:nvPr/>
        </p:nvSpPr>
        <p:spPr>
          <a:xfrm rot="0" flipH="false" flipV="false">
            <a:off x="762000" y="4064000"/>
            <a:ext cx="5080000" cy="1778000"/>
          </a:xfrm>
          <a:prstGeom prst="roundRect">
            <a:avLst>
              <a:gd name="adj" fmla="val 7142"/>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318000"/>
            <a:ext cx="609600" cy="609600"/>
          </a:xfrm>
          <a:prstGeom prst="rect">
            <a:avLst/>
          </a:prstGeom>
        </p:spPr>
      </p:pic>
      <p:sp>
        <p:nvSpPr>
          <p:cNvPr name="AutoShape 15" id="15"/>
          <p:cNvSpPr/>
          <p:nvPr/>
        </p:nvSpPr>
        <p:spPr>
          <a:xfrm rot="0" flipH="false" flipV="false">
            <a:off x="1778000" y="4254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AI中考择校板块</a:t>
            </a:r>
            <a:endParaRPr lang="en-US" sz="1100"/>
          </a:p>
        </p:txBody>
      </p:sp>
      <p:sp>
        <p:nvSpPr>
          <p:cNvPr name="AutoShape 16" id="16"/>
          <p:cNvSpPr/>
          <p:nvPr/>
        </p:nvSpPr>
        <p:spPr>
          <a:xfrm rot="0" flipH="false" flipV="false">
            <a:off x="1778000" y="4699000"/>
            <a:ext cx="381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333333"/>
                </a:solidFill>
                <a:latin typeface="Noto Sans SC"/>
                <a:ea typeface="Noto Sans SC"/>
                <a:cs typeface="Noto Sans SC"/>
                <a:sym typeface="Noto Sans SC"/>
              </a:rPr>
              <a:t>涵盖分数预测、学校匹配、高中信息库、升学政策解读、学校对比及口碑评价，助力精准择校。</a:t>
            </a:r>
            <a:endParaRPr lang="en-US" sz="1100"/>
          </a:p>
        </p:txBody>
      </p:sp>
      <p:sp>
        <p:nvSpPr>
          <p:cNvPr name="AutoShape 17" id="17"/>
          <p:cNvSpPr/>
          <p:nvPr/>
        </p:nvSpPr>
        <p:spPr>
          <a:xfrm rot="0" flipH="false" flipV="false">
            <a:off x="6350000" y="4064000"/>
            <a:ext cx="5080000" cy="1778000"/>
          </a:xfrm>
          <a:prstGeom prst="roundRect">
            <a:avLst>
              <a:gd name="adj" fmla="val 7142"/>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4318000"/>
            <a:ext cx="609600" cy="609600"/>
          </a:xfrm>
          <a:prstGeom prst="rect">
            <a:avLst/>
          </a:prstGeom>
        </p:spPr>
      </p:pic>
      <p:sp>
        <p:nvSpPr>
          <p:cNvPr name="AutoShape 19" id="19"/>
          <p:cNvSpPr/>
          <p:nvPr/>
        </p:nvSpPr>
        <p:spPr>
          <a:xfrm rot="0" flipH="false" flipV="false">
            <a:off x="7366000" y="4254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AI初高衔接成长板块</a:t>
            </a:r>
            <a:endParaRPr lang="en-US" sz="1100"/>
          </a:p>
        </p:txBody>
      </p:sp>
      <p:sp>
        <p:nvSpPr>
          <p:cNvPr name="AutoShape 20" id="20"/>
          <p:cNvSpPr/>
          <p:nvPr/>
        </p:nvSpPr>
        <p:spPr>
          <a:xfrm rot="0" flipH="false" flipV="false">
            <a:off x="7366000" y="4699000"/>
            <a:ext cx="381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333333"/>
                </a:solidFill>
                <a:latin typeface="Noto Sans SC"/>
                <a:ea typeface="Noto Sans SC"/>
                <a:cs typeface="Noto Sans SC"/>
                <a:sym typeface="Noto Sans SC"/>
              </a:rPr>
              <a:t>提供高中预习课程、学习习惯衔接、学科能力诊断及新高考/新中考适配，建立成长档案连续追踪。</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60325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AI中考分数预测引擎</a:t>
            </a:r>
            <a:endParaRPr lang="en-US" sz="1100"/>
          </a:p>
        </p:txBody>
      </p:sp>
      <p:sp>
        <p:nvSpPr>
          <p:cNvPr name="AutoShape 5" id="5"/>
          <p:cNvSpPr/>
          <p:nvPr/>
        </p:nvSpPr>
        <p:spPr>
          <a:xfrm rot="0" flipH="false" flipV="false">
            <a:off x="762000" y="2032000"/>
            <a:ext cx="2476500" cy="2794000"/>
          </a:xfrm>
          <a:prstGeom prst="roundRect">
            <a:avLst>
              <a:gd name="adj" fmla="val 5128"/>
            </a:avLst>
          </a:prstGeom>
          <a:solidFill>
            <a:srgbClr val="F0F2F5">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746250" y="2286000"/>
            <a:ext cx="508000" cy="508000"/>
          </a:xfrm>
          <a:prstGeom prst="rect">
            <a:avLst/>
          </a:prstGeom>
        </p:spPr>
      </p:pic>
      <p:sp>
        <p:nvSpPr>
          <p:cNvPr name="AutoShape 7" id="7"/>
          <p:cNvSpPr/>
          <p:nvPr/>
        </p:nvSpPr>
        <p:spPr>
          <a:xfrm rot="0" flipH="false" flipV="false">
            <a:off x="8890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52FF"/>
                </a:solidFill>
                <a:latin typeface="Noto Sans SC"/>
                <a:ea typeface="Noto Sans SC"/>
                <a:cs typeface="Noto Sans SC"/>
                <a:sym typeface="Noto Sans SC"/>
              </a:rPr>
              <a:t>多维数据输入</a:t>
            </a:r>
            <a:endParaRPr lang="en-US" sz="1100"/>
          </a:p>
        </p:txBody>
      </p:sp>
      <p:sp>
        <p:nvSpPr>
          <p:cNvPr name="AutoShape 8" id="8"/>
          <p:cNvSpPr/>
          <p:nvPr/>
        </p:nvSpPr>
        <p:spPr>
          <a:xfrm rot="0" flipH="false" flipV="false">
            <a:off x="889000" y="3365500"/>
            <a:ext cx="2222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555555"/>
                </a:solidFill>
                <a:latin typeface="Noto Sans SC"/>
                <a:ea typeface="Noto Sans SC"/>
                <a:cs typeface="Noto Sans SC"/>
                <a:sym typeface="Noto Sans SC"/>
              </a:rPr>
              <a:t>整合学生模考成绩、排名、波动趋势、薄弱科目及学习行为数据。</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327400" y="3276600"/>
            <a:ext cx="304800" cy="304800"/>
          </a:xfrm>
          <a:prstGeom prst="rect">
            <a:avLst/>
          </a:prstGeom>
        </p:spPr>
      </p:pic>
      <p:sp>
        <p:nvSpPr>
          <p:cNvPr name="AutoShape 10" id="10"/>
          <p:cNvSpPr/>
          <p:nvPr/>
        </p:nvSpPr>
        <p:spPr>
          <a:xfrm rot="0" flipH="false" flipV="false">
            <a:off x="3721100" y="2032000"/>
            <a:ext cx="2476500" cy="2794000"/>
          </a:xfrm>
          <a:prstGeom prst="roundRect">
            <a:avLst>
              <a:gd name="adj" fmla="val 5128"/>
            </a:avLst>
          </a:prstGeom>
          <a:solidFill>
            <a:srgbClr val="F0F2F5">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705350" y="2286000"/>
            <a:ext cx="508000" cy="508000"/>
          </a:xfrm>
          <a:prstGeom prst="rect">
            <a:avLst/>
          </a:prstGeom>
        </p:spPr>
      </p:pic>
      <p:sp>
        <p:nvSpPr>
          <p:cNvPr name="AutoShape 12" id="12"/>
          <p:cNvSpPr/>
          <p:nvPr/>
        </p:nvSpPr>
        <p:spPr>
          <a:xfrm rot="0" flipH="false" flipV="false">
            <a:off x="38481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52FF"/>
                </a:solidFill>
                <a:latin typeface="Noto Sans SC"/>
                <a:ea typeface="Noto Sans SC"/>
                <a:cs typeface="Noto Sans SC"/>
                <a:sym typeface="Noto Sans SC"/>
              </a:rPr>
              <a:t>智能算法模型</a:t>
            </a:r>
            <a:endParaRPr lang="en-US" sz="1100"/>
          </a:p>
        </p:txBody>
      </p:sp>
      <p:sp>
        <p:nvSpPr>
          <p:cNvPr name="AutoShape 13" id="13"/>
          <p:cNvSpPr/>
          <p:nvPr/>
        </p:nvSpPr>
        <p:spPr>
          <a:xfrm rot="0" flipH="false" flipV="false">
            <a:off x="3848100" y="3365500"/>
            <a:ext cx="2222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555555"/>
                </a:solidFill>
                <a:latin typeface="Noto Sans SC"/>
                <a:ea typeface="Noto Sans SC"/>
                <a:cs typeface="Noto Sans SC"/>
                <a:sym typeface="Noto Sans SC"/>
              </a:rPr>
              <a:t>结合近5年中考数据，运用回归分析与机器学习算法建立精准模型。</a:t>
            </a:r>
            <a:endParaRPr lang="en-US" sz="1100"/>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286500" y="3276600"/>
            <a:ext cx="304800" cy="304800"/>
          </a:xfrm>
          <a:prstGeom prst="rect">
            <a:avLst/>
          </a:prstGeom>
        </p:spPr>
      </p:pic>
      <p:sp>
        <p:nvSpPr>
          <p:cNvPr name="AutoShape 15" id="15"/>
          <p:cNvSpPr/>
          <p:nvPr/>
        </p:nvSpPr>
        <p:spPr>
          <a:xfrm rot="0" flipH="false" flipV="false">
            <a:off x="6680200" y="2032000"/>
            <a:ext cx="2476500" cy="2794000"/>
          </a:xfrm>
          <a:prstGeom prst="roundRect">
            <a:avLst>
              <a:gd name="adj" fmla="val 5128"/>
            </a:avLst>
          </a:prstGeom>
          <a:solidFill>
            <a:srgbClr val="F0F2F5">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7664450" y="2286000"/>
            <a:ext cx="508000" cy="508000"/>
          </a:xfrm>
          <a:prstGeom prst="rect">
            <a:avLst/>
          </a:prstGeom>
        </p:spPr>
      </p:pic>
      <p:sp>
        <p:nvSpPr>
          <p:cNvPr name="AutoShape 17" id="17"/>
          <p:cNvSpPr/>
          <p:nvPr/>
        </p:nvSpPr>
        <p:spPr>
          <a:xfrm rot="0" flipH="false" flipV="false">
            <a:off x="68072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52FF"/>
                </a:solidFill>
                <a:latin typeface="Noto Sans SC"/>
                <a:ea typeface="Noto Sans SC"/>
                <a:cs typeface="Noto Sans SC"/>
                <a:sym typeface="Noto Sans SC"/>
              </a:rPr>
              <a:t>精准预测输出</a:t>
            </a:r>
            <a:endParaRPr lang="en-US" sz="1100"/>
          </a:p>
        </p:txBody>
      </p:sp>
      <p:sp>
        <p:nvSpPr>
          <p:cNvPr name="AutoShape 18" id="18"/>
          <p:cNvSpPr/>
          <p:nvPr/>
        </p:nvSpPr>
        <p:spPr>
          <a:xfrm rot="0" flipH="false" flipV="false">
            <a:off x="6807200" y="3365500"/>
            <a:ext cx="2222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555555"/>
                </a:solidFill>
                <a:latin typeface="Noto Sans SC"/>
                <a:ea typeface="Noto Sans SC"/>
                <a:cs typeface="Noto Sans SC"/>
                <a:sym typeface="Noto Sans SC"/>
              </a:rPr>
              <a:t>生成最可能分数区间、全市位次预测及详细的预测置信度报告。</a:t>
            </a:r>
            <a:endParaRPr lang="en-US" sz="1100"/>
          </a:p>
        </p:txBody>
      </p:sp>
      <p:pic>
        <p:nvPicPr>
          <p:cNvPr name="Picture 19" id="1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245600" y="3276600"/>
            <a:ext cx="304800" cy="304800"/>
          </a:xfrm>
          <a:prstGeom prst="rect">
            <a:avLst/>
          </a:prstGeom>
        </p:spPr>
      </p:pic>
      <p:sp>
        <p:nvSpPr>
          <p:cNvPr name="AutoShape 20" id="20"/>
          <p:cNvSpPr/>
          <p:nvPr/>
        </p:nvSpPr>
        <p:spPr>
          <a:xfrm rot="0" flipH="false" flipV="false">
            <a:off x="9639300" y="2032000"/>
            <a:ext cx="2476500" cy="2794000"/>
          </a:xfrm>
          <a:prstGeom prst="roundRect">
            <a:avLst>
              <a:gd name="adj" fmla="val 5128"/>
            </a:avLst>
          </a:prstGeom>
          <a:solidFill>
            <a:srgbClr val="F0F2F5">
              <a:alpha val="100000"/>
            </a:srgbClr>
          </a:solidFill>
          <a:ln w="12700" cmpd="sng" cap="flat">
            <a:solidFill>
              <a:srgbClr val="E5E6EB">
                <a:alpha val="100000"/>
              </a:srgbClr>
            </a:solid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623550" y="2286000"/>
            <a:ext cx="508000" cy="508000"/>
          </a:xfrm>
          <a:prstGeom prst="rect">
            <a:avLst/>
          </a:prstGeom>
        </p:spPr>
      </p:pic>
      <p:sp>
        <p:nvSpPr>
          <p:cNvPr name="AutoShape 22" id="22"/>
          <p:cNvSpPr/>
          <p:nvPr/>
        </p:nvSpPr>
        <p:spPr>
          <a:xfrm rot="0" flipH="false" flipV="false">
            <a:off x="97663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52FF"/>
                </a:solidFill>
                <a:latin typeface="Noto Sans SC"/>
                <a:ea typeface="Noto Sans SC"/>
                <a:cs typeface="Noto Sans SC"/>
                <a:sym typeface="Noto Sans SC"/>
              </a:rPr>
              <a:t>系统深度融合</a:t>
            </a:r>
            <a:endParaRPr lang="en-US" sz="1100"/>
          </a:p>
        </p:txBody>
      </p:sp>
      <p:sp>
        <p:nvSpPr>
          <p:cNvPr name="AutoShape 23" id="23"/>
          <p:cNvSpPr/>
          <p:nvPr/>
        </p:nvSpPr>
        <p:spPr>
          <a:xfrm rot="0" flipH="false" flipV="false">
            <a:off x="9766300" y="3365500"/>
            <a:ext cx="2222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555555"/>
                </a:solidFill>
                <a:latin typeface="Noto Sans SC"/>
                <a:ea typeface="Noto Sans SC"/>
                <a:cs typeface="Noto Sans SC"/>
                <a:sym typeface="Noto Sans SC"/>
              </a:rPr>
              <a:t>无缝对接现有AI伴学系统，实现学情数据深度融合与实时动态更新。</a:t>
            </a:r>
            <a:endParaRPr lang="en-US" sz="1100"/>
          </a:p>
        </p:txBody>
      </p:sp>
      <p:sp>
        <p:nvSpPr>
          <p:cNvPr name="AutoShape 24" id="24"/>
          <p:cNvSpPr/>
          <p:nvPr/>
        </p:nvSpPr>
        <p:spPr>
          <a:xfrm rot="0" flipH="false" flipV="false">
            <a:off x="762000" y="5334000"/>
            <a:ext cx="11353800" cy="508000"/>
          </a:xfrm>
          <a:prstGeom prst="roundRect">
            <a:avLst>
              <a:gd name="adj" fmla="val 25000"/>
            </a:avLst>
          </a:prstGeom>
          <a:solidFill>
            <a:srgbClr val="0052FF">
              <a:alpha val="5000"/>
            </a:srgbClr>
          </a:solidFill>
          <a:ln w="12700" cmpd="sng" cap="flat">
            <a:solidFill>
              <a:srgbClr val="0052FF">
                <a:alpha val="20000"/>
              </a:srgbClr>
            </a:solidFill>
            <a:prstDash val="dash"/>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89000" y="5397500"/>
            <a:ext cx="11099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52FF"/>
                </a:solidFill>
                <a:latin typeface="Noto Sans SC"/>
                <a:ea typeface="Noto Sans SC"/>
                <a:cs typeface="Noto Sans SC"/>
                <a:sym typeface="Noto Sans SC"/>
              </a:rPr>
              <a:t>核心价值：</a:t>
            </a:r>
            <a:r>
              <a:rPr lang="en-US" b="false" i="false" strike="noStrike" u="none" sz="1400">
                <a:solidFill>
                  <a:srgbClr val="555555"/>
                </a:solidFill>
                <a:latin typeface="Noto Sans SC"/>
                <a:ea typeface="Noto Sans SC"/>
                <a:cs typeface="Noto Sans SC"/>
                <a:sym typeface="Noto Sans SC"/>
              </a:rPr>
              <a:t>基于大数据与AI算法，为学生升学规划提供科学依据，辅助精准择校。</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30226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智能择校匹配</a:t>
            </a:r>
            <a:endParaRPr lang="en-US" sz="1100"/>
          </a:p>
        </p:txBody>
      </p:sp>
      <p:sp>
        <p:nvSpPr>
          <p:cNvPr name="AutoShape 5" id="5"/>
          <p:cNvSpPr/>
          <p:nvPr/>
        </p:nvSpPr>
        <p:spPr>
          <a:xfrm rot="0" flipH="false" flipV="false">
            <a:off x="762000" y="1778000"/>
            <a:ext cx="4826000" cy="3302000"/>
          </a:xfrm>
          <a:prstGeom prst="roundRect">
            <a:avLst>
              <a:gd name="adj" fmla="val 3846"/>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家长输入维度</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76500"/>
            <a:ext cx="304800" cy="304800"/>
          </a:xfrm>
          <a:prstGeom prst="rect">
            <a:avLst/>
          </a:prstGeom>
        </p:spPr>
      </p:pic>
      <p:sp>
        <p:nvSpPr>
          <p:cNvPr name="AutoShape 8" id="8"/>
          <p:cNvSpPr/>
          <p:nvPr/>
        </p:nvSpPr>
        <p:spPr>
          <a:xfrm rot="0" flipH="false" flipV="false">
            <a:off x="1397000" y="2438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分数/位次</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175000" y="2476500"/>
            <a:ext cx="304800" cy="304800"/>
          </a:xfrm>
          <a:prstGeom prst="rect">
            <a:avLst/>
          </a:prstGeom>
        </p:spPr>
      </p:pic>
      <p:sp>
        <p:nvSpPr>
          <p:cNvPr name="AutoShape 10" id="10"/>
          <p:cNvSpPr/>
          <p:nvPr/>
        </p:nvSpPr>
        <p:spPr>
          <a:xfrm rot="0" flipH="false" flipV="false">
            <a:off x="3556000" y="2438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户籍/学籍</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2984500"/>
            <a:ext cx="304800" cy="304800"/>
          </a:xfrm>
          <a:prstGeom prst="rect">
            <a:avLst/>
          </a:prstGeom>
        </p:spPr>
      </p:pic>
      <p:sp>
        <p:nvSpPr>
          <p:cNvPr name="AutoShape 12" id="12"/>
          <p:cNvSpPr/>
          <p:nvPr/>
        </p:nvSpPr>
        <p:spPr>
          <a:xfrm rot="0" flipH="false" flipV="false">
            <a:off x="1397000" y="2946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住宿偏好</a:t>
            </a:r>
            <a:endParaRPr lang="en-US" sz="1100"/>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175000" y="2984500"/>
            <a:ext cx="304800" cy="304800"/>
          </a:xfrm>
          <a:prstGeom prst="rect">
            <a:avLst/>
          </a:prstGeom>
        </p:spPr>
      </p:pic>
      <p:sp>
        <p:nvSpPr>
          <p:cNvPr name="AutoShape 14" id="14"/>
          <p:cNvSpPr/>
          <p:nvPr/>
        </p:nvSpPr>
        <p:spPr>
          <a:xfrm rot="0" flipH="false" flipV="false">
            <a:off x="3556000" y="2946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文理偏好</a:t>
            </a:r>
            <a:endParaRPr lang="en-US" sz="1100"/>
          </a:p>
        </p:txBody>
      </p: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3492500"/>
            <a:ext cx="304800" cy="304800"/>
          </a:xfrm>
          <a:prstGeom prst="rect">
            <a:avLst/>
          </a:prstGeom>
        </p:spPr>
      </p:pic>
      <p:sp>
        <p:nvSpPr>
          <p:cNvPr name="AutoShape 16" id="16"/>
          <p:cNvSpPr/>
          <p:nvPr/>
        </p:nvSpPr>
        <p:spPr>
          <a:xfrm rot="0" flipH="false" flipV="false">
            <a:off x="1397000" y="3454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经济条件</a:t>
            </a:r>
            <a:endParaRPr lang="en-US" sz="1100"/>
          </a:p>
        </p:txBody>
      </p:sp>
      <p:pic>
        <p:nvPicPr>
          <p:cNvPr name="Picture 17" id="17"/>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3175000" y="3492500"/>
            <a:ext cx="304800" cy="304800"/>
          </a:xfrm>
          <a:prstGeom prst="rect">
            <a:avLst/>
          </a:prstGeom>
        </p:spPr>
      </p:pic>
      <p:sp>
        <p:nvSpPr>
          <p:cNvPr name="AutoShape 18" id="18"/>
          <p:cNvSpPr/>
          <p:nvPr/>
        </p:nvSpPr>
        <p:spPr>
          <a:xfrm rot="0" flipH="false" flipV="false">
            <a:off x="3556000" y="3454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民办接受度</a:t>
            </a:r>
            <a:endParaRPr lang="en-US" sz="1100"/>
          </a:p>
        </p:txBody>
      </p:sp>
      <p:sp>
        <p:nvSpPr>
          <p:cNvPr name="AutoShape 19" id="19"/>
          <p:cNvSpPr/>
          <p:nvPr/>
        </p:nvSpPr>
        <p:spPr>
          <a:xfrm rot="0" flipH="false" flipV="false">
            <a:off x="5842000" y="1778000"/>
            <a:ext cx="4826000" cy="3302000"/>
          </a:xfrm>
          <a:prstGeom prst="roundRect">
            <a:avLst>
              <a:gd name="adj" fmla="val 3846"/>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096000" y="19685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AI智能推荐结果</a:t>
            </a:r>
            <a:endParaRPr lang="en-US" sz="1100"/>
          </a:p>
        </p:txBody>
      </p:sp>
      <p:sp>
        <p:nvSpPr>
          <p:cNvPr name="AutoShape 21" id="21"/>
          <p:cNvSpPr/>
          <p:nvPr/>
        </p:nvSpPr>
        <p:spPr>
          <a:xfrm rot="0" flipH="false" flipV="false">
            <a:off x="6096000" y="2413000"/>
            <a:ext cx="4318000" cy="635000"/>
          </a:xfrm>
          <a:prstGeom prst="roundRect">
            <a:avLst>
              <a:gd name="adj" fmla="val 10000"/>
            </a:avLst>
          </a:prstGeom>
          <a:solidFill>
            <a:srgbClr val="FFFFFF">
              <a:alpha val="100000"/>
            </a:srgbClr>
          </a:solidFill>
          <a:ln w="25400" cmpd="sng" cap="flat">
            <a:noFill/>
            <a:prstDash val="solid"/>
            <a:round/>
          </a:ln>
          <a:effectLst>
            <a:outerShdw dir="2700000" dist="25400" blurRad="508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223000" y="2578100"/>
            <a:ext cx="304800" cy="304800"/>
          </a:xfrm>
          <a:prstGeom prst="rect">
            <a:avLst/>
          </a:prstGeom>
        </p:spPr>
      </p:pic>
      <p:sp>
        <p:nvSpPr>
          <p:cNvPr name="AutoShape 23" id="23"/>
          <p:cNvSpPr/>
          <p:nvPr/>
        </p:nvSpPr>
        <p:spPr>
          <a:xfrm rot="0" flipH="false" flipV="false">
            <a:off x="6604000" y="2578100"/>
            <a:ext cx="127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冲刺档</a:t>
            </a:r>
            <a:endParaRPr lang="en-US" sz="1100"/>
          </a:p>
        </p:txBody>
      </p:sp>
      <p:sp>
        <p:nvSpPr>
          <p:cNvPr name="AutoShape 24" id="24"/>
          <p:cNvSpPr/>
          <p:nvPr/>
        </p:nvSpPr>
        <p:spPr>
          <a:xfrm rot="0" flipH="false" flipV="false">
            <a:off x="7874000" y="2603500"/>
            <a:ext cx="228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46464"/>
                </a:solidFill>
                <a:latin typeface="Noto Sans SC"/>
                <a:ea typeface="Noto Sans SC"/>
                <a:cs typeface="Noto Sans SC"/>
                <a:sym typeface="Noto Sans SC"/>
              </a:rPr>
              <a:t>录取概率 30%-50%</a:t>
            </a:r>
            <a:endParaRPr lang="en-US" sz="1100"/>
          </a:p>
        </p:txBody>
      </p:sp>
      <p:sp>
        <p:nvSpPr>
          <p:cNvPr name="AutoShape 25" id="25"/>
          <p:cNvSpPr/>
          <p:nvPr/>
        </p:nvSpPr>
        <p:spPr>
          <a:xfrm rot="0" flipH="false" flipV="false">
            <a:off x="6096000" y="3175000"/>
            <a:ext cx="4318000" cy="635000"/>
          </a:xfrm>
          <a:prstGeom prst="roundRect">
            <a:avLst>
              <a:gd name="adj" fmla="val 10000"/>
            </a:avLst>
          </a:prstGeom>
          <a:solidFill>
            <a:srgbClr val="FFFFFF">
              <a:alpha val="100000"/>
            </a:srgbClr>
          </a:solidFill>
          <a:ln w="25400" cmpd="sng" cap="flat">
            <a:noFill/>
            <a:prstDash val="solid"/>
            <a:round/>
          </a:ln>
          <a:effectLst>
            <a:outerShdw dir="2700000" dist="25400" blurRad="508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223000" y="3340100"/>
            <a:ext cx="304800" cy="304800"/>
          </a:xfrm>
          <a:prstGeom prst="rect">
            <a:avLst/>
          </a:prstGeom>
        </p:spPr>
      </p:pic>
      <p:sp>
        <p:nvSpPr>
          <p:cNvPr name="AutoShape 27" id="27"/>
          <p:cNvSpPr/>
          <p:nvPr/>
        </p:nvSpPr>
        <p:spPr>
          <a:xfrm rot="0" flipH="false" flipV="false">
            <a:off x="6604000" y="3340100"/>
            <a:ext cx="127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稳妥档</a:t>
            </a:r>
            <a:endParaRPr lang="en-US" sz="1100"/>
          </a:p>
        </p:txBody>
      </p:sp>
      <p:sp>
        <p:nvSpPr>
          <p:cNvPr name="AutoShape 28" id="28"/>
          <p:cNvSpPr/>
          <p:nvPr/>
        </p:nvSpPr>
        <p:spPr>
          <a:xfrm rot="0" flipH="false" flipV="false">
            <a:off x="7874000" y="3365500"/>
            <a:ext cx="228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46464"/>
                </a:solidFill>
                <a:latin typeface="Noto Sans SC"/>
                <a:ea typeface="Noto Sans SC"/>
                <a:cs typeface="Noto Sans SC"/>
                <a:sym typeface="Noto Sans SC"/>
              </a:rPr>
              <a:t>录取概率 60%-85%</a:t>
            </a:r>
            <a:endParaRPr lang="en-US" sz="1100"/>
          </a:p>
        </p:txBody>
      </p:sp>
      <p:sp>
        <p:nvSpPr>
          <p:cNvPr name="AutoShape 29" id="29"/>
          <p:cNvSpPr/>
          <p:nvPr/>
        </p:nvSpPr>
        <p:spPr>
          <a:xfrm rot="0" flipH="false" flipV="false">
            <a:off x="6096000" y="3937000"/>
            <a:ext cx="4318000" cy="635000"/>
          </a:xfrm>
          <a:prstGeom prst="roundRect">
            <a:avLst>
              <a:gd name="adj" fmla="val 10000"/>
            </a:avLst>
          </a:prstGeom>
          <a:solidFill>
            <a:srgbClr val="FFFFFF">
              <a:alpha val="100000"/>
            </a:srgbClr>
          </a:solidFill>
          <a:ln w="25400" cmpd="sng" cap="flat">
            <a:noFill/>
            <a:prstDash val="solid"/>
            <a:round/>
          </a:ln>
          <a:effectLst>
            <a:outerShdw dir="2700000" dist="25400" blurRad="508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6223000" y="4102100"/>
            <a:ext cx="304800" cy="304800"/>
          </a:xfrm>
          <a:prstGeom prst="rect">
            <a:avLst/>
          </a:prstGeom>
        </p:spPr>
      </p:pic>
      <p:sp>
        <p:nvSpPr>
          <p:cNvPr name="AutoShape 31" id="31"/>
          <p:cNvSpPr/>
          <p:nvPr/>
        </p:nvSpPr>
        <p:spPr>
          <a:xfrm rot="0" flipH="false" flipV="false">
            <a:off x="6604000" y="4102100"/>
            <a:ext cx="127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保底档</a:t>
            </a:r>
            <a:endParaRPr lang="en-US" sz="1100"/>
          </a:p>
        </p:txBody>
      </p:sp>
      <p:sp>
        <p:nvSpPr>
          <p:cNvPr name="AutoShape 32" id="32"/>
          <p:cNvSpPr/>
          <p:nvPr/>
        </p:nvSpPr>
        <p:spPr>
          <a:xfrm rot="0" flipH="false" flipV="false">
            <a:off x="7874000" y="4127500"/>
            <a:ext cx="228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46464"/>
                </a:solidFill>
                <a:latin typeface="Noto Sans SC"/>
                <a:ea typeface="Noto Sans SC"/>
                <a:cs typeface="Noto Sans SC"/>
                <a:sym typeface="Noto Sans SC"/>
              </a:rPr>
              <a:t>录取概率 ≥90%</a:t>
            </a:r>
            <a:endParaRPr lang="en-US" sz="1100"/>
          </a:p>
        </p:txBody>
      </p:sp>
      <p:sp>
        <p:nvSpPr>
          <p:cNvPr name="AutoShape 33" id="33"/>
          <p:cNvSpPr/>
          <p:nvPr/>
        </p:nvSpPr>
        <p:spPr>
          <a:xfrm rot="0" flipH="false" flipV="false">
            <a:off x="762000" y="5334000"/>
            <a:ext cx="9906000" cy="889000"/>
          </a:xfrm>
          <a:prstGeom prst="roundRect">
            <a:avLst>
              <a:gd name="adj" fmla="val 14285"/>
            </a:avLst>
          </a:prstGeom>
          <a:solidFill>
            <a:srgbClr val="0052FF">
              <a:alpha val="8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21"/>
          <a:srcRect l="0" r="0" t="0" b="0"/>
          <a:stretch>
            <a:fillRect/>
          </a:stretch>
        </p:blipFill>
        <p:spPr>
          <a:xfrm rot="0" flipH="false" flipV="false">
            <a:off x="1016000" y="5473700"/>
            <a:ext cx="609600" cy="609600"/>
          </a:xfrm>
          <a:prstGeom prst="roundRect">
            <a:avLst>
              <a:gd name="adj" fmla="val 41666"/>
            </a:avLst>
          </a:prstGeom>
          <a:noFill/>
          <a:ln w="25400" cmpd="sng" cap="flat">
            <a:noFill/>
            <a:prstDash val="solid"/>
            <a:round/>
          </a:ln>
        </p:spPr>
      </p:pic>
      <p:sp>
        <p:nvSpPr>
          <p:cNvPr name="AutoShape 35" id="35"/>
          <p:cNvSpPr/>
          <p:nvPr/>
        </p:nvSpPr>
        <p:spPr>
          <a:xfrm rot="0" flipH="false" flipV="false">
            <a:off x="1778000" y="54610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2FF"/>
                </a:solidFill>
                <a:latin typeface="Noto Sans SC"/>
                <a:ea typeface="Noto Sans SC"/>
                <a:cs typeface="Noto Sans SC"/>
                <a:sym typeface="Noto Sans SC"/>
              </a:rPr>
              <a:t>AI深度分析报告</a:t>
            </a:r>
            <a:endParaRPr lang="en-US" sz="1100"/>
          </a:p>
        </p:txBody>
      </p:sp>
      <p:sp>
        <p:nvSpPr>
          <p:cNvPr name="AutoShape 36" id="36"/>
          <p:cNvSpPr/>
          <p:nvPr/>
        </p:nvSpPr>
        <p:spPr>
          <a:xfrm rot="0" flipH="false" flipV="false">
            <a:off x="1778000" y="5778500"/>
            <a:ext cx="685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05050"/>
                </a:solidFill>
                <a:latin typeface="Noto Sans SC"/>
                <a:ea typeface="Noto Sans SC"/>
                <a:cs typeface="Noto Sans SC"/>
                <a:sym typeface="Noto Sans SC"/>
              </a:rPr>
              <a:t>每所推荐学校附带详细的录取概率测算、近三年分数线趋势分析及适合学生类型画像，辅助科学决策。</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志愿智能填报与政策问答</a:t>
            </a:r>
            <a:endParaRPr lang="en-US" sz="1100"/>
          </a:p>
        </p:txBody>
      </p:sp>
      <p:sp>
        <p:nvSpPr>
          <p:cNvPr name="AutoShape 5" id="5"/>
          <p:cNvSpPr/>
          <p:nvPr/>
        </p:nvSpPr>
        <p:spPr>
          <a:xfrm rot="0" flipH="false" flipV="false">
            <a:off x="762000" y="1397000"/>
            <a:ext cx="5080000" cy="3556000"/>
          </a:xfrm>
          <a:prstGeom prst="roundRect">
            <a:avLst>
              <a:gd name="adj" fmla="val 3571"/>
            </a:avLst>
          </a:prstGeom>
          <a:solidFill>
            <a:srgbClr val="FFFFFF">
              <a:alpha val="100000"/>
            </a:srgbClr>
          </a:solidFill>
          <a:ln w="25400" cmpd="sng" cap="flat">
            <a:no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0" b="0"/>
          <a:stretch>
            <a:fillRect/>
          </a:stretch>
        </p:blipFill>
        <p:spPr>
          <a:xfrm rot="0" flipH="false" flipV="false">
            <a:off x="1016000" y="1651000"/>
            <a:ext cx="609600" cy="609600"/>
          </a:xfrm>
          <a:prstGeom prst="roundRect">
            <a:avLst>
              <a:gd name="adj" fmla="val 20833"/>
            </a:avLst>
          </a:prstGeom>
          <a:noFill/>
          <a:ln w="25400" cmpd="sng" cap="flat">
            <a:noFill/>
            <a:prstDash val="solid"/>
            <a:round/>
          </a:ln>
        </p:spPr>
      </p:pic>
      <p:sp>
        <p:nvSpPr>
          <p:cNvPr name="AutoShape 7" id="7"/>
          <p:cNvSpPr/>
          <p:nvPr/>
        </p:nvSpPr>
        <p:spPr>
          <a:xfrm rot="0" flipH="false" flipV="false">
            <a:off x="1778000" y="1752600"/>
            <a:ext cx="317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志愿智能填报系统</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413000"/>
            <a:ext cx="254000" cy="254000"/>
          </a:xfrm>
          <a:prstGeom prst="rect">
            <a:avLst/>
          </a:prstGeom>
        </p:spPr>
      </p:pic>
      <p:sp>
        <p:nvSpPr>
          <p:cNvPr name="AutoShape 9" id="9"/>
          <p:cNvSpPr/>
          <p:nvPr/>
        </p:nvSpPr>
        <p:spPr>
          <a:xfrm rot="0" flipH="false" flipV="false">
            <a:off x="1397000" y="23622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智能生成志愿表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自动按照中考批次规则生成科学合理的志愿表。</a:t>
            </a: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048000"/>
            <a:ext cx="254000" cy="254000"/>
          </a:xfrm>
          <a:prstGeom prst="rect">
            <a:avLst/>
          </a:prstGeom>
        </p:spPr>
      </p:pic>
      <p:sp>
        <p:nvSpPr>
          <p:cNvPr name="AutoShape 11" id="11"/>
          <p:cNvSpPr/>
          <p:nvPr/>
        </p:nvSpPr>
        <p:spPr>
          <a:xfrm rot="0" flipH="false" flipV="false">
            <a:off x="1397000" y="29972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智能风控检查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自动检测并提示滑档风险、重复志愿等潜在问题。</a:t>
            </a:r>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3683000"/>
            <a:ext cx="254000" cy="254000"/>
          </a:xfrm>
          <a:prstGeom prst="rect">
            <a:avLst/>
          </a:prstGeom>
        </p:spPr>
      </p:pic>
      <p:sp>
        <p:nvSpPr>
          <p:cNvPr name="AutoShape 13" id="13"/>
          <p:cNvSpPr/>
          <p:nvPr/>
        </p:nvSpPr>
        <p:spPr>
          <a:xfrm rot="0" flipH="false" flipV="false">
            <a:off x="1397000" y="36322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一键导出表格</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生成符合官方格式的志愿填报参考表，便捷高效。</a:t>
            </a:r>
          </a:p>
        </p:txBody>
      </p:sp>
      <p:sp>
        <p:nvSpPr>
          <p:cNvPr name="AutoShape 14" id="14"/>
          <p:cNvSpPr/>
          <p:nvPr/>
        </p:nvSpPr>
        <p:spPr>
          <a:xfrm rot="0" flipH="false" flipV="false">
            <a:off x="6350000" y="1397000"/>
            <a:ext cx="5080000" cy="3556000"/>
          </a:xfrm>
          <a:prstGeom prst="roundRect">
            <a:avLst>
              <a:gd name="adj" fmla="val 3571"/>
            </a:avLst>
          </a:prstGeom>
          <a:solidFill>
            <a:srgbClr val="FFFFFF">
              <a:alpha val="100000"/>
            </a:srgbClr>
          </a:solidFill>
          <a:ln w="25400" cmpd="sng" cap="flat">
            <a:no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04000" y="1651000"/>
            <a:ext cx="609600" cy="609600"/>
          </a:xfrm>
          <a:prstGeom prst="rect">
            <a:avLst/>
          </a:prstGeom>
        </p:spPr>
      </p:pic>
      <p:sp>
        <p:nvSpPr>
          <p:cNvPr name="AutoShape 16" id="16"/>
          <p:cNvSpPr/>
          <p:nvPr/>
        </p:nvSpPr>
        <p:spPr>
          <a:xfrm rot="0" flipH="false" flipV="false">
            <a:off x="7366000" y="1752600"/>
            <a:ext cx="317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政策问答机器人</a:t>
            </a:r>
            <a:endParaRPr lang="en-US" sz="1100"/>
          </a:p>
        </p:txBody>
      </p:sp>
      <p:pic>
        <p:nvPicPr>
          <p:cNvPr name="Picture 17" id="1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04000" y="2413000"/>
            <a:ext cx="254000" cy="254000"/>
          </a:xfrm>
          <a:prstGeom prst="rect">
            <a:avLst/>
          </a:prstGeom>
        </p:spPr>
      </p:pic>
      <p:sp>
        <p:nvSpPr>
          <p:cNvPr name="AutoShape 18" id="18"/>
          <p:cNvSpPr/>
          <p:nvPr/>
        </p:nvSpPr>
        <p:spPr>
          <a:xfrm rot="0" flipH="false" flipV="false">
            <a:off x="6985000" y="23622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技术核心：RAG检索增强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基于检索增强生成技术，确保回答准确权威。</a:t>
            </a:r>
          </a:p>
        </p:txBody>
      </p:sp>
      <p:pic>
        <p:nvPicPr>
          <p:cNvPr name="Picture 19" id="19"/>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604000" y="3048000"/>
            <a:ext cx="254000" cy="254000"/>
          </a:xfrm>
          <a:prstGeom prst="rect">
            <a:avLst/>
          </a:prstGeom>
        </p:spPr>
      </p:pic>
      <p:sp>
        <p:nvSpPr>
          <p:cNvPr name="AutoShape 20" id="20"/>
          <p:cNvSpPr/>
          <p:nvPr/>
        </p:nvSpPr>
        <p:spPr>
          <a:xfrm rot="0" flipH="false" flipV="false">
            <a:off x="6985000" y="29972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回答优势：可追溯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信息100%可追溯至官方政策原文，有据可依。</a:t>
            </a:r>
          </a:p>
        </p:txBody>
      </p:sp>
      <p:pic>
        <p:nvPicPr>
          <p:cNvPr name="Picture 21" id="21"/>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604000" y="3683000"/>
            <a:ext cx="254000" cy="254000"/>
          </a:xfrm>
          <a:prstGeom prst="rect">
            <a:avLst/>
          </a:prstGeom>
        </p:spPr>
      </p:pic>
      <p:sp>
        <p:nvSpPr>
          <p:cNvPr name="AutoShape 22" id="22"/>
          <p:cNvSpPr/>
          <p:nvPr/>
        </p:nvSpPr>
        <p:spPr>
          <a:xfrm rot="0" flipH="false" flipV="false">
            <a:off x="6985000" y="36322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交互方式：多模态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支持语音提问、图片上传及多轮对话，交互便捷。</a:t>
            </a:r>
          </a:p>
        </p:txBody>
      </p:sp>
      <p:sp>
        <p:nvSpPr>
          <p:cNvPr name="AutoShape 23" id="23"/>
          <p:cNvSpPr/>
          <p:nvPr/>
        </p:nvSpPr>
        <p:spPr>
          <a:xfrm rot="0" flipH="false" flipV="false">
            <a:off x="0" y="6781800"/>
            <a:ext cx="12192000" cy="762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826000" y="1270000"/>
            <a:ext cx="2540000" cy="1143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FF7D00"/>
                </a:solidFill>
                <a:latin typeface="DIN Alternate"/>
                <a:ea typeface="DIN Alternate"/>
                <a:cs typeface="DIN Alternate"/>
                <a:sym typeface="DIN Alternate"/>
              </a:rPr>
              <a:t>04</a:t>
            </a:r>
            <a:endParaRPr lang="en-US" sz="1100"/>
          </a:p>
        </p:txBody>
      </p:sp>
      <p:sp>
        <p:nvSpPr>
          <p:cNvPr name="AutoShape 5" id="5"/>
          <p:cNvSpPr/>
          <p:nvPr/>
        </p:nvSpPr>
        <p:spPr>
          <a:xfrm rot="0" flipH="false" flipV="false">
            <a:off x="0" y="2540000"/>
            <a:ext cx="1219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0052FF"/>
                </a:solidFill>
                <a:latin typeface="Noto Sans SC"/>
                <a:ea typeface="Noto Sans SC"/>
                <a:cs typeface="Noto Sans SC"/>
                <a:sym typeface="Noto Sans SC"/>
              </a:rPr>
              <a:t>技术架构</a:t>
            </a:r>
            <a:endParaRPr lang="en-US" sz="1100"/>
          </a:p>
        </p:txBody>
      </p:sp>
      <p:sp>
        <p:nvSpPr>
          <p:cNvPr name="AutoShape 6" id="6"/>
          <p:cNvSpPr/>
          <p:nvPr/>
        </p:nvSpPr>
        <p:spPr>
          <a:xfrm rot="0" flipH="false" flipV="false">
            <a:off x="0" y="3429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a:solidFill>
                  <a:srgbClr val="333333"/>
                </a:solidFill>
                <a:latin typeface="Noto Sans SC"/>
                <a:ea typeface="Noto Sans SC"/>
                <a:cs typeface="Noto Sans SC"/>
                <a:sym typeface="Noto Sans SC"/>
              </a:rPr>
              <a:t>全国版“1+1+N”云原生架构</a:t>
            </a:r>
            <a:endParaRPr lang="en-US" sz="1100"/>
          </a:p>
        </p:txBody>
      </p:sp>
      <p:sp>
        <p:nvSpPr>
          <p:cNvPr name="AutoShape 7" id="7"/>
          <p:cNvSpPr/>
          <p:nvPr/>
        </p:nvSpPr>
        <p:spPr>
          <a:xfrm rot="0" flipH="false" flipV="false">
            <a:off x="5715000" y="4445000"/>
            <a:ext cx="762000" cy="50800"/>
          </a:xfrm>
          <a:prstGeom prst="roundRect">
            <a:avLst>
              <a:gd name="adj" fmla="val 0"/>
            </a:avLst>
          </a:prstGeom>
          <a:solidFill>
            <a:srgbClr val="0052FF">
              <a:alpha val="100000"/>
            </a:srgbClr>
          </a:solidFill>
          <a:ln cmpd="sng" cap="flat">
            <a:solidFill>
              <a:srgbClr val="004AE6">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4826000"/>
            <a:ext cx="609600" cy="6096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7035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全国版“1+1+N”云原生架构</a:t>
            </a:r>
            <a:endParaRPr lang="en-US" sz="1100"/>
          </a:p>
        </p:txBody>
      </p:sp>
      <p:sp>
        <p:nvSpPr>
          <p:cNvPr name="AutoShape 5" id="5"/>
          <p:cNvSpPr/>
          <p:nvPr/>
        </p:nvSpPr>
        <p:spPr>
          <a:xfrm rot="0" flipH="false" flipV="false">
            <a:off x="762000" y="1397000"/>
            <a:ext cx="5080000" cy="1651000"/>
          </a:xfrm>
          <a:prstGeom prst="roundRect">
            <a:avLst>
              <a:gd name="adj" fmla="val 7692"/>
            </a:avLst>
          </a:prstGeom>
          <a:solidFill>
            <a:srgbClr val="FFFFFF">
              <a:alpha val="100000"/>
            </a:srgbClr>
          </a:solidFill>
          <a:ln w="25400" cmpd="sng" cap="flat">
            <a:solidFill>
              <a:srgbClr val="0052FF">
                <a:alpha val="100000"/>
              </a:srgbClr>
            </a:solid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609600" cy="609600"/>
          </a:xfrm>
          <a:prstGeom prst="rect">
            <a:avLst/>
          </a:prstGeom>
        </p:spPr>
      </p:pic>
      <p:sp>
        <p:nvSpPr>
          <p:cNvPr name="AutoShape 7" id="7"/>
          <p:cNvSpPr/>
          <p:nvPr/>
        </p:nvSpPr>
        <p:spPr>
          <a:xfrm rot="0" flipH="false" flipV="false">
            <a:off x="1778000" y="1587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大模型服务 (核心AI能力)</a:t>
            </a:r>
            <a:endParaRPr lang="en-US" sz="1100"/>
          </a:p>
        </p:txBody>
      </p:sp>
      <p:sp>
        <p:nvSpPr>
          <p:cNvPr name="AutoShape 8" id="8"/>
          <p:cNvSpPr/>
          <p:nvPr/>
        </p:nvSpPr>
        <p:spPr>
          <a:xfrm rot="0" flipH="false" flipV="false">
            <a:off x="1778000" y="19685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555555"/>
                </a:solidFill>
                <a:latin typeface="Noto Sans SC"/>
                <a:ea typeface="Noto Sans SC"/>
                <a:cs typeface="Noto Sans SC"/>
                <a:sym typeface="Noto Sans SC"/>
              </a:rPr>
              <a:t>提供智能问答、分析报告、志愿生成及政策解读等核心能力，驱动业务智能化。</a:t>
            </a:r>
            <a:endParaRPr lang="en-US" sz="1100"/>
          </a:p>
        </p:txBody>
      </p:sp>
      <p:sp>
        <p:nvSpPr>
          <p:cNvPr name="AutoShape 9" id="9"/>
          <p:cNvSpPr/>
          <p:nvPr/>
        </p:nvSpPr>
        <p:spPr>
          <a:xfrm rot="0" flipH="false" flipV="false">
            <a:off x="6350000" y="1397000"/>
            <a:ext cx="5080000" cy="1651000"/>
          </a:xfrm>
          <a:prstGeom prst="roundRect">
            <a:avLst>
              <a:gd name="adj" fmla="val 7692"/>
            </a:avLst>
          </a:prstGeom>
          <a:solidFill>
            <a:srgbClr val="FFFFFF">
              <a:alpha val="100000"/>
            </a:srgbClr>
          </a:solidFill>
          <a:ln w="25400" cmpd="sng" cap="flat">
            <a:solidFill>
              <a:srgbClr val="0052FF">
                <a:alpha val="100000"/>
              </a:srgbClr>
            </a:solid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651000"/>
            <a:ext cx="609600" cy="609600"/>
          </a:xfrm>
          <a:prstGeom prst="rect">
            <a:avLst/>
          </a:prstGeom>
        </p:spPr>
      </p:pic>
      <p:sp>
        <p:nvSpPr>
          <p:cNvPr name="AutoShape 11" id="11"/>
          <p:cNvSpPr/>
          <p:nvPr/>
        </p:nvSpPr>
        <p:spPr>
          <a:xfrm rot="0" flipH="false" flipV="false">
            <a:off x="7366000" y="1587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RAG检索增强系统</a:t>
            </a:r>
            <a:endParaRPr lang="en-US" sz="1100"/>
          </a:p>
        </p:txBody>
      </p:sp>
      <p:sp>
        <p:nvSpPr>
          <p:cNvPr name="AutoShape 12" id="12"/>
          <p:cNvSpPr/>
          <p:nvPr/>
        </p:nvSpPr>
        <p:spPr>
          <a:xfrm rot="0" flipH="false" flipV="false">
            <a:off x="7366000" y="19685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555555"/>
                </a:solidFill>
                <a:latin typeface="Noto Sans SC"/>
                <a:ea typeface="Noto Sans SC"/>
                <a:cs typeface="Noto Sans SC"/>
                <a:sym typeface="Noto Sans SC"/>
              </a:rPr>
              <a:t>结合爬虫数据与权威知识库，确保AI回答的准确性、权威性与时效性。</a:t>
            </a:r>
            <a:endParaRPr lang="en-US" sz="1100"/>
          </a:p>
        </p:txBody>
      </p:sp>
      <p:sp>
        <p:nvSpPr>
          <p:cNvPr name="AutoShape 13" id="13"/>
          <p:cNvSpPr/>
          <p:nvPr/>
        </p:nvSpPr>
        <p:spPr>
          <a:xfrm rot="0" flipH="false" flipV="false">
            <a:off x="762000" y="3302000"/>
            <a:ext cx="2476500" cy="2032000"/>
          </a:xfrm>
          <a:prstGeom prst="roundRect">
            <a:avLst>
              <a:gd name="adj" fmla="val 6250"/>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492500"/>
            <a:ext cx="406400" cy="406400"/>
          </a:xfrm>
          <a:prstGeom prst="rect">
            <a:avLst/>
          </a:prstGeom>
        </p:spPr>
      </p:pic>
      <p:sp>
        <p:nvSpPr>
          <p:cNvPr name="AutoShape 15" id="15"/>
          <p:cNvSpPr/>
          <p:nvPr/>
        </p:nvSpPr>
        <p:spPr>
          <a:xfrm rot="0" flipH="false" flipV="false">
            <a:off x="1016000" y="4000500"/>
            <a:ext cx="19685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AI规则引擎</a:t>
            </a:r>
            <a:endParaRPr lang="en-US" sz="1100"/>
          </a:p>
        </p:txBody>
      </p:sp>
      <p:sp>
        <p:nvSpPr>
          <p:cNvPr name="AutoShape 16" id="16"/>
          <p:cNvSpPr/>
          <p:nvPr/>
        </p:nvSpPr>
        <p:spPr>
          <a:xfrm rot="0" flipH="false" flipV="false">
            <a:off x="1016000" y="4381500"/>
            <a:ext cx="1968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666666"/>
                </a:solidFill>
                <a:latin typeface="Noto Sans SC"/>
                <a:ea typeface="Noto Sans SC"/>
                <a:cs typeface="Noto Sans SC"/>
                <a:sym typeface="Noto Sans SC"/>
              </a:rPr>
              <a:t>将复杂的中考政策转化为可执行逻辑，保障业务合规。</a:t>
            </a:r>
            <a:endParaRPr lang="en-US" sz="1100"/>
          </a:p>
        </p:txBody>
      </p:sp>
      <p:sp>
        <p:nvSpPr>
          <p:cNvPr name="AutoShape 17" id="17"/>
          <p:cNvSpPr/>
          <p:nvPr/>
        </p:nvSpPr>
        <p:spPr>
          <a:xfrm rot="0" flipH="false" flipV="false">
            <a:off x="3492500" y="3302000"/>
            <a:ext cx="2476500" cy="2032000"/>
          </a:xfrm>
          <a:prstGeom prst="roundRect">
            <a:avLst>
              <a:gd name="adj" fmla="val 6250"/>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746500" y="3492500"/>
            <a:ext cx="406400" cy="406400"/>
          </a:xfrm>
          <a:prstGeom prst="rect">
            <a:avLst/>
          </a:prstGeom>
        </p:spPr>
      </p:pic>
      <p:sp>
        <p:nvSpPr>
          <p:cNvPr name="AutoShape 19" id="19"/>
          <p:cNvSpPr/>
          <p:nvPr/>
        </p:nvSpPr>
        <p:spPr>
          <a:xfrm rot="0" flipH="false" flipV="false">
            <a:off x="3746500" y="4000500"/>
            <a:ext cx="19685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AI用户画像系统</a:t>
            </a:r>
            <a:endParaRPr lang="en-US" sz="1100"/>
          </a:p>
        </p:txBody>
      </p:sp>
      <p:sp>
        <p:nvSpPr>
          <p:cNvPr name="AutoShape 20" id="20"/>
          <p:cNvSpPr/>
          <p:nvPr/>
        </p:nvSpPr>
        <p:spPr>
          <a:xfrm rot="0" flipH="false" flipV="false">
            <a:off x="3746500" y="4381500"/>
            <a:ext cx="1968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666666"/>
                </a:solidFill>
                <a:latin typeface="Noto Sans SC"/>
                <a:ea typeface="Noto Sans SC"/>
                <a:cs typeface="Noto Sans SC"/>
                <a:sym typeface="Noto Sans SC"/>
              </a:rPr>
              <a:t>构建学生和家长精准画像，提供个性化服务推荐。</a:t>
            </a:r>
            <a:endParaRPr lang="en-US" sz="1100"/>
          </a:p>
        </p:txBody>
      </p:sp>
      <p:sp>
        <p:nvSpPr>
          <p:cNvPr name="AutoShape 21" id="21"/>
          <p:cNvSpPr/>
          <p:nvPr/>
        </p:nvSpPr>
        <p:spPr>
          <a:xfrm rot="0" flipH="false" flipV="false">
            <a:off x="6223000" y="3302000"/>
            <a:ext cx="2476500" cy="2032000"/>
          </a:xfrm>
          <a:prstGeom prst="roundRect">
            <a:avLst>
              <a:gd name="adj" fmla="val 6250"/>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3492500"/>
            <a:ext cx="406400" cy="406400"/>
          </a:xfrm>
          <a:prstGeom prst="rect">
            <a:avLst/>
          </a:prstGeom>
        </p:spPr>
      </p:pic>
      <p:sp>
        <p:nvSpPr>
          <p:cNvPr name="AutoShape 23" id="23"/>
          <p:cNvSpPr/>
          <p:nvPr/>
        </p:nvSpPr>
        <p:spPr>
          <a:xfrm rot="0" flipH="false" flipV="false">
            <a:off x="6477000" y="4000500"/>
            <a:ext cx="19685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合规数据采集体系</a:t>
            </a:r>
            <a:endParaRPr lang="en-US" sz="1100"/>
          </a:p>
        </p:txBody>
      </p:sp>
      <p:sp>
        <p:nvSpPr>
          <p:cNvPr name="AutoShape 24" id="24"/>
          <p:cNvSpPr/>
          <p:nvPr/>
        </p:nvSpPr>
        <p:spPr>
          <a:xfrm rot="0" flipH="false" flipV="false">
            <a:off x="6477000" y="4381500"/>
            <a:ext cx="1968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666666"/>
                </a:solidFill>
                <a:latin typeface="Noto Sans SC"/>
                <a:ea typeface="Noto Sans SC"/>
                <a:cs typeface="Noto Sans SC"/>
                <a:sym typeface="Noto Sans SC"/>
              </a:rPr>
              <a:t>通过多种合规方式采集全国权威数据，夯实数据底座。</a:t>
            </a:r>
            <a:endParaRPr lang="en-US" sz="1100"/>
          </a:p>
        </p:txBody>
      </p:sp>
      <p:sp>
        <p:nvSpPr>
          <p:cNvPr name="AutoShape 25" id="25"/>
          <p:cNvSpPr/>
          <p:nvPr/>
        </p:nvSpPr>
        <p:spPr>
          <a:xfrm rot="0" flipH="false" flipV="false">
            <a:off x="8953500" y="3302000"/>
            <a:ext cx="2476500" cy="2032000"/>
          </a:xfrm>
          <a:prstGeom prst="roundRect">
            <a:avLst>
              <a:gd name="adj" fmla="val 6250"/>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207500" y="3492500"/>
            <a:ext cx="406400" cy="406400"/>
          </a:xfrm>
          <a:prstGeom prst="rect">
            <a:avLst/>
          </a:prstGeom>
        </p:spPr>
      </p:pic>
      <p:sp>
        <p:nvSpPr>
          <p:cNvPr name="AutoShape 27" id="27"/>
          <p:cNvSpPr/>
          <p:nvPr/>
        </p:nvSpPr>
        <p:spPr>
          <a:xfrm rot="0" flipH="false" flipV="false">
            <a:off x="9207500" y="4000500"/>
            <a:ext cx="19685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AI内容风控</a:t>
            </a:r>
            <a:endParaRPr lang="en-US" sz="1100"/>
          </a:p>
        </p:txBody>
      </p:sp>
      <p:sp>
        <p:nvSpPr>
          <p:cNvPr name="AutoShape 28" id="28"/>
          <p:cNvSpPr/>
          <p:nvPr/>
        </p:nvSpPr>
        <p:spPr>
          <a:xfrm rot="0" flipH="false" flipV="false">
            <a:off x="9207500" y="4381500"/>
            <a:ext cx="1968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666666"/>
                </a:solidFill>
                <a:latin typeface="Noto Sans SC"/>
                <a:ea typeface="Noto Sans SC"/>
                <a:cs typeface="Noto Sans SC"/>
                <a:sym typeface="Noto Sans SC"/>
              </a:rPr>
              <a:t>自动审核生成内容，确保信息安全、合规与价值观正确。</a:t>
            </a:r>
            <a:endParaRPr lang="en-US" sz="1100"/>
          </a:p>
        </p:txBody>
      </p:sp>
      <p:sp>
        <p:nvSpPr>
          <p:cNvPr name="AutoShape 29" id="29"/>
          <p:cNvSpPr/>
          <p:nvPr/>
        </p:nvSpPr>
        <p:spPr>
          <a:xfrm rot="0" flipH="false" flipV="false">
            <a:off x="0" y="6807200"/>
            <a:ext cx="12192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7035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技术亮点：AI + 爬虫数据闭环</a:t>
            </a:r>
            <a:endParaRPr lang="en-US" sz="1100"/>
          </a:p>
        </p:txBody>
      </p:sp>
      <p:sp>
        <p:nvSpPr>
          <p:cNvPr name="AutoShape 5" id="5"/>
          <p:cNvSpPr/>
          <p:nvPr/>
        </p:nvSpPr>
        <p:spPr>
          <a:xfrm rot="0" flipH="false" flipV="false">
            <a:off x="762000" y="2032000"/>
            <a:ext cx="1905000" cy="2413000"/>
          </a:xfrm>
          <a:prstGeom prst="roundRect">
            <a:avLst>
              <a:gd name="adj" fmla="val 6666"/>
            </a:avLst>
          </a:prstGeom>
          <a:solidFill>
            <a:srgbClr val="FFFFFF">
              <a:alpha val="100000"/>
            </a:srgbClr>
          </a:solidFill>
          <a:ln w="25400" cmpd="sng" cap="flat">
            <a:no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460500" y="2222500"/>
            <a:ext cx="508000" cy="508000"/>
          </a:xfrm>
          <a:prstGeom prst="rect">
            <a:avLst/>
          </a:prstGeom>
        </p:spPr>
      </p:pic>
      <p:sp>
        <p:nvSpPr>
          <p:cNvPr name="AutoShape 7" id="7"/>
          <p:cNvSpPr/>
          <p:nvPr/>
        </p:nvSpPr>
        <p:spPr>
          <a:xfrm rot="0" flipH="false" flipV="false">
            <a:off x="889000" y="2857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52FF"/>
                </a:solidFill>
                <a:latin typeface="Noto Sans SC"/>
                <a:ea typeface="Noto Sans SC"/>
                <a:cs typeface="Noto Sans SC"/>
                <a:sym typeface="Noto Sans SC"/>
              </a:rPr>
              <a:t>爬虫自动采集</a:t>
            </a:r>
            <a:endParaRPr lang="en-US" sz="1100"/>
          </a:p>
        </p:txBody>
      </p:sp>
      <p:sp>
        <p:nvSpPr>
          <p:cNvPr name="AutoShape 8" id="8"/>
          <p:cNvSpPr/>
          <p:nvPr/>
        </p:nvSpPr>
        <p:spPr>
          <a:xfrm rot="0" flipH="false" flipV="false">
            <a:off x="889000" y="3302000"/>
            <a:ext cx="1651000" cy="762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646A73"/>
                </a:solidFill>
                <a:latin typeface="Noto Sans SC"/>
                <a:ea typeface="Noto Sans SC"/>
                <a:cs typeface="Noto Sans SC"/>
                <a:sym typeface="Noto Sans SC"/>
              </a:rPr>
              <a:t>从教育局、官网及权威媒体采集政策、分数线等数据</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2730500" y="3086100"/>
            <a:ext cx="304800" cy="304800"/>
          </a:xfrm>
          <a:prstGeom prst="rect">
            <a:avLst/>
          </a:prstGeom>
        </p:spPr>
      </p:pic>
      <p:sp>
        <p:nvSpPr>
          <p:cNvPr name="AutoShape 10" id="10"/>
          <p:cNvSpPr/>
          <p:nvPr/>
        </p:nvSpPr>
        <p:spPr>
          <a:xfrm rot="0" flipH="false" flipV="false">
            <a:off x="2921000" y="2032000"/>
            <a:ext cx="1905000" cy="2413000"/>
          </a:xfrm>
          <a:prstGeom prst="roundRect">
            <a:avLst>
              <a:gd name="adj" fmla="val 6666"/>
            </a:avLst>
          </a:prstGeom>
          <a:solidFill>
            <a:srgbClr val="FFFFFF">
              <a:alpha val="100000"/>
            </a:srgbClr>
          </a:solidFill>
          <a:ln w="25400" cmpd="sng" cap="flat">
            <a:no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3619500" y="2222500"/>
            <a:ext cx="508000" cy="508000"/>
          </a:xfrm>
          <a:prstGeom prst="rect">
            <a:avLst/>
          </a:prstGeom>
        </p:spPr>
      </p:pic>
      <p:sp>
        <p:nvSpPr>
          <p:cNvPr name="AutoShape 12" id="12"/>
          <p:cNvSpPr/>
          <p:nvPr/>
        </p:nvSpPr>
        <p:spPr>
          <a:xfrm rot="0" flipH="false" flipV="false">
            <a:off x="3048000" y="2857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52FF"/>
                </a:solidFill>
                <a:latin typeface="Noto Sans SC"/>
                <a:ea typeface="Noto Sans SC"/>
                <a:cs typeface="Noto Sans SC"/>
                <a:sym typeface="Noto Sans SC"/>
              </a:rPr>
              <a:t>AI自动清洗</a:t>
            </a:r>
            <a:endParaRPr lang="en-US" sz="1100"/>
          </a:p>
        </p:txBody>
      </p:sp>
      <p:sp>
        <p:nvSpPr>
          <p:cNvPr name="AutoShape 13" id="13"/>
          <p:cNvSpPr/>
          <p:nvPr/>
        </p:nvSpPr>
        <p:spPr>
          <a:xfrm rot="0" flipH="false" flipV="false">
            <a:off x="3048000" y="3302000"/>
            <a:ext cx="1651000" cy="762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646A73"/>
                </a:solidFill>
                <a:latin typeface="Noto Sans SC"/>
                <a:ea typeface="Noto Sans SC"/>
                <a:cs typeface="Noto Sans SC"/>
                <a:sym typeface="Noto Sans SC"/>
              </a:rPr>
              <a:t>自动去重、去广告并进行结构化处理，提升数据质量</a:t>
            </a:r>
            <a:endParaRPr lang="en-US" sz="1100"/>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889500" y="3086100"/>
            <a:ext cx="304800" cy="304800"/>
          </a:xfrm>
          <a:prstGeom prst="rect">
            <a:avLst/>
          </a:prstGeom>
        </p:spPr>
      </p:pic>
      <p:sp>
        <p:nvSpPr>
          <p:cNvPr name="AutoShape 15" id="15"/>
          <p:cNvSpPr/>
          <p:nvPr/>
        </p:nvSpPr>
        <p:spPr>
          <a:xfrm rot="0" flipH="false" flipV="false">
            <a:off x="5080000" y="2032000"/>
            <a:ext cx="1905000" cy="2413000"/>
          </a:xfrm>
          <a:prstGeom prst="roundRect">
            <a:avLst>
              <a:gd name="adj" fmla="val 6666"/>
            </a:avLst>
          </a:prstGeom>
          <a:solidFill>
            <a:srgbClr val="FFFFFF">
              <a:alpha val="100000"/>
            </a:srgbClr>
          </a:solidFill>
          <a:ln w="25400" cmpd="sng" cap="flat">
            <a:no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5778500" y="2222500"/>
            <a:ext cx="508000" cy="508000"/>
          </a:xfrm>
          <a:prstGeom prst="rect">
            <a:avLst/>
          </a:prstGeom>
        </p:spPr>
      </p:pic>
      <p:sp>
        <p:nvSpPr>
          <p:cNvPr name="AutoShape 17" id="17"/>
          <p:cNvSpPr/>
          <p:nvPr/>
        </p:nvSpPr>
        <p:spPr>
          <a:xfrm rot="0" flipH="false" flipV="false">
            <a:off x="5207000" y="2857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52FF"/>
                </a:solidFill>
                <a:latin typeface="Noto Sans SC"/>
                <a:ea typeface="Noto Sans SC"/>
                <a:cs typeface="Noto Sans SC"/>
                <a:sym typeface="Noto Sans SC"/>
              </a:rPr>
              <a:t>AI自动审核</a:t>
            </a:r>
            <a:endParaRPr lang="en-US" sz="1100"/>
          </a:p>
        </p:txBody>
      </p:sp>
      <p:sp>
        <p:nvSpPr>
          <p:cNvPr name="AutoShape 18" id="18"/>
          <p:cNvSpPr/>
          <p:nvPr/>
        </p:nvSpPr>
        <p:spPr>
          <a:xfrm rot="0" flipH="false" flipV="false">
            <a:off x="5207000" y="3302000"/>
            <a:ext cx="1651000" cy="762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646A73"/>
                </a:solidFill>
                <a:latin typeface="Noto Sans SC"/>
                <a:ea typeface="Noto Sans SC"/>
                <a:cs typeface="Noto Sans SC"/>
                <a:sym typeface="Noto Sans SC"/>
              </a:rPr>
              <a:t>校验数据真实性与准确性，自动检测冲突信息</a:t>
            </a:r>
            <a:endParaRPr lang="en-US" sz="1100"/>
          </a:p>
        </p:txBody>
      </p:sp>
      <p:pic>
        <p:nvPicPr>
          <p:cNvPr name="Picture 19" id="1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048500" y="3086100"/>
            <a:ext cx="304800" cy="304800"/>
          </a:xfrm>
          <a:prstGeom prst="rect">
            <a:avLst/>
          </a:prstGeom>
        </p:spPr>
      </p:pic>
      <p:sp>
        <p:nvSpPr>
          <p:cNvPr name="AutoShape 20" id="20"/>
          <p:cNvSpPr/>
          <p:nvPr/>
        </p:nvSpPr>
        <p:spPr>
          <a:xfrm rot="0" flipH="false" flipV="false">
            <a:off x="7239000" y="2032000"/>
            <a:ext cx="1905000" cy="2413000"/>
          </a:xfrm>
          <a:prstGeom prst="roundRect">
            <a:avLst>
              <a:gd name="adj" fmla="val 6666"/>
            </a:avLst>
          </a:prstGeom>
          <a:solidFill>
            <a:srgbClr val="FFFFFF">
              <a:alpha val="100000"/>
            </a:srgbClr>
          </a:solidFill>
          <a:ln w="25400" cmpd="sng" cap="flat">
            <a:noFill/>
            <a:prstDash val="solid"/>
            <a:round/>
          </a:ln>
          <a:effectLst>
            <a:outerShdw dir="5400000" dist="50800" blurRad="127000" algn="tl" rotWithShape="false">
              <a:srgbClr val="0052FF">
                <a:alpha val="15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7937500" y="2222500"/>
            <a:ext cx="508000" cy="508000"/>
          </a:xfrm>
          <a:prstGeom prst="rect">
            <a:avLst/>
          </a:prstGeom>
        </p:spPr>
      </p:pic>
      <p:sp>
        <p:nvSpPr>
          <p:cNvPr name="AutoShape 22" id="22"/>
          <p:cNvSpPr/>
          <p:nvPr/>
        </p:nvSpPr>
        <p:spPr>
          <a:xfrm rot="0" flipH="false" flipV="false">
            <a:off x="7366000" y="2857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52FF"/>
                </a:solidFill>
                <a:latin typeface="Noto Sans SC"/>
                <a:ea typeface="Noto Sans SC"/>
                <a:cs typeface="Noto Sans SC"/>
                <a:sym typeface="Noto Sans SC"/>
              </a:rPr>
              <a:t>存入向量数据库</a:t>
            </a:r>
            <a:endParaRPr lang="en-US" sz="1100"/>
          </a:p>
        </p:txBody>
      </p:sp>
      <p:sp>
        <p:nvSpPr>
          <p:cNvPr name="AutoShape 23" id="23"/>
          <p:cNvSpPr/>
          <p:nvPr/>
        </p:nvSpPr>
        <p:spPr>
          <a:xfrm rot="0" flipH="false" flipV="false">
            <a:off x="7366000" y="3302000"/>
            <a:ext cx="1651000" cy="762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646A73"/>
                </a:solidFill>
                <a:latin typeface="Noto Sans SC"/>
                <a:ea typeface="Noto Sans SC"/>
                <a:cs typeface="Noto Sans SC"/>
                <a:sym typeface="Noto Sans SC"/>
              </a:rPr>
              <a:t>将处理后数据存入向量库，支持RAG实时高效检索</a:t>
            </a:r>
            <a:endParaRPr lang="en-US" sz="1100"/>
          </a:p>
        </p:txBody>
      </p:sp>
      <p:pic>
        <p:nvPicPr>
          <p:cNvPr name="Picture 24" id="2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207500" y="3086100"/>
            <a:ext cx="304800" cy="304800"/>
          </a:xfrm>
          <a:prstGeom prst="rect">
            <a:avLst/>
          </a:prstGeom>
        </p:spPr>
      </p:pic>
      <p:sp>
        <p:nvSpPr>
          <p:cNvPr name="AutoShape 25" id="25"/>
          <p:cNvSpPr/>
          <p:nvPr/>
        </p:nvSpPr>
        <p:spPr>
          <a:xfrm rot="0" flipH="false" flipV="false">
            <a:off x="9398000" y="2032000"/>
            <a:ext cx="1905000" cy="2413000"/>
          </a:xfrm>
          <a:prstGeom prst="roundRect">
            <a:avLst>
              <a:gd name="adj" fmla="val 6666"/>
            </a:avLst>
          </a:prstGeom>
          <a:solidFill>
            <a:srgbClr val="FFFFFF">
              <a:alpha val="100000"/>
            </a:srgbClr>
          </a:solidFill>
          <a:ln w="25400" cmpd="sng" cap="flat">
            <a:solidFill>
              <a:srgbClr val="FF7D00">
                <a:alpha val="100000"/>
              </a:srgbClr>
            </a:solidFill>
            <a:prstDash val="solid"/>
            <a:round/>
          </a:ln>
          <a:effectLst>
            <a:outerShdw dir="5400000" dist="50800" blurRad="127000" algn="tl" rotWithShape="false">
              <a:srgbClr val="FF7D00">
                <a:alpha val="15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096500" y="2222500"/>
            <a:ext cx="508000" cy="508000"/>
          </a:xfrm>
          <a:prstGeom prst="rect">
            <a:avLst/>
          </a:prstGeom>
        </p:spPr>
      </p:pic>
      <p:sp>
        <p:nvSpPr>
          <p:cNvPr name="AutoShape 27" id="27"/>
          <p:cNvSpPr/>
          <p:nvPr/>
        </p:nvSpPr>
        <p:spPr>
          <a:xfrm rot="0" flipH="false" flipV="false">
            <a:off x="9525000" y="2857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7D00"/>
                </a:solidFill>
                <a:latin typeface="Noto Sans SC"/>
                <a:ea typeface="Noto Sans SC"/>
                <a:cs typeface="Noto Sans SC"/>
                <a:sym typeface="Noto Sans SC"/>
              </a:rPr>
              <a:t>AI实时调用</a:t>
            </a:r>
            <a:endParaRPr lang="en-US" sz="1100"/>
          </a:p>
        </p:txBody>
      </p:sp>
      <p:sp>
        <p:nvSpPr>
          <p:cNvPr name="AutoShape 28" id="28"/>
          <p:cNvSpPr/>
          <p:nvPr/>
        </p:nvSpPr>
        <p:spPr>
          <a:xfrm rot="0" flipH="false" flipV="false">
            <a:off x="9525000" y="3302000"/>
            <a:ext cx="1651000" cy="762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646A73"/>
                </a:solidFill>
                <a:latin typeface="Noto Sans SC"/>
                <a:ea typeface="Noto Sans SC"/>
                <a:cs typeface="Noto Sans SC"/>
                <a:sym typeface="Noto Sans SC"/>
              </a:rPr>
              <a:t>在择校、问答等场景实时调用权威数据，确保准确</a:t>
            </a:r>
            <a:endParaRPr lang="en-US" sz="1100"/>
          </a:p>
        </p:txBody>
      </p:sp>
      <p:sp>
        <p:nvSpPr>
          <p:cNvPr name="AutoShape 29" id="29"/>
          <p:cNvSpPr/>
          <p:nvPr/>
        </p:nvSpPr>
        <p:spPr>
          <a:xfrm rot="0" flipH="false" flipV="false">
            <a:off x="762000" y="4826000"/>
            <a:ext cx="10668000" cy="762000"/>
          </a:xfrm>
          <a:prstGeom prst="roundRect">
            <a:avLst>
              <a:gd name="adj" fmla="val 16666"/>
            </a:avLst>
          </a:prstGeom>
          <a:solidFill>
            <a:srgbClr val="0052FF">
              <a:alpha val="5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1016000" y="4953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52FF"/>
                </a:solidFill>
                <a:latin typeface="Noto Sans SC"/>
                <a:ea typeface="Noto Sans SC"/>
                <a:cs typeface="Noto Sans SC"/>
                <a:sym typeface="Noto Sans SC"/>
              </a:rPr>
              <a:t>核心价值：</a:t>
            </a:r>
            <a:r>
              <a:rPr lang="en-US" b="false" i="false" strike="noStrike" u="none" sz="1400">
                <a:solidFill>
                  <a:srgbClr val="333333"/>
                </a:solidFill>
                <a:latin typeface="Noto Sans SC"/>
                <a:ea typeface="Noto Sans SC"/>
                <a:cs typeface="Noto Sans SC"/>
                <a:sym typeface="Noto Sans SC"/>
              </a:rPr>
              <a:t>通过自动化的采集、清洗、审核和存储，构建完整的数据闭环，确保平台数据的实时性、准确性和权威性。</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0F2F5">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524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7D00"/>
                </a:solidFill>
                <a:latin typeface="Noto Sans SC"/>
                <a:ea typeface="Noto Sans SC"/>
                <a:cs typeface="Noto Sans SC"/>
                <a:sym typeface="Noto Sans SC"/>
              </a:rPr>
              <a:t>05</a:t>
            </a:r>
            <a:endParaRPr lang="en-US" sz="1100"/>
          </a:p>
        </p:txBody>
      </p:sp>
      <p:sp>
        <p:nvSpPr>
          <p:cNvPr name="AutoShape 5" id="5"/>
          <p:cNvSpPr/>
          <p:nvPr/>
        </p:nvSpPr>
        <p:spPr>
          <a:xfrm rot="0" flipH="false" flipV="false">
            <a:off x="0" y="2286000"/>
            <a:ext cx="1219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0052FF"/>
                </a:solidFill>
                <a:latin typeface="Noto Sans SC"/>
                <a:ea typeface="Noto Sans SC"/>
                <a:cs typeface="Noto Sans SC"/>
                <a:sym typeface="Noto Sans SC"/>
              </a:rPr>
              <a:t>实施计划</a:t>
            </a:r>
            <a:endParaRPr lang="en-US" sz="1100"/>
          </a:p>
        </p:txBody>
      </p:sp>
      <p:sp>
        <p:nvSpPr>
          <p:cNvPr name="AutoShape 6" id="6"/>
          <p:cNvSpPr/>
          <p:nvPr/>
        </p:nvSpPr>
        <p:spPr>
          <a:xfrm rot="0" flipH="false" flipV="false">
            <a:off x="5715000" y="3175000"/>
            <a:ext cx="762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3429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505050"/>
                </a:solidFill>
                <a:latin typeface="Noto Sans SC"/>
                <a:ea typeface="Noto Sans SC"/>
                <a:cs typeface="Noto Sans SC"/>
                <a:sym typeface="Noto Sans SC"/>
              </a:rPr>
              <a:t>项目开发详细规划时间表</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4318000"/>
            <a:ext cx="609600" cy="609600"/>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90551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项目开发时间表与AI优先开发路线图</a:t>
            </a:r>
            <a:endParaRPr lang="en-US" sz="1100"/>
          </a:p>
        </p:txBody>
      </p:sp>
      <p:sp>
        <p:nvSpPr>
          <p:cNvPr name="AutoShape 5" id="5"/>
          <p:cNvSpPr/>
          <p:nvPr/>
        </p:nvSpPr>
        <p:spPr>
          <a:xfrm rot="0" flipH="false" flipV="false">
            <a:off x="762000" y="1778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项目开发总周期 (6个月)</a:t>
            </a:r>
            <a:endParaRPr lang="en-US" sz="1100"/>
          </a:p>
        </p:txBody>
      </p:sp>
      <p:sp>
        <p:nvSpPr>
          <p:cNvPr name="AutoShape 6" id="6"/>
          <p:cNvSpPr/>
          <p:nvPr/>
        </p:nvSpPr>
        <p:spPr>
          <a:xfrm rot="0" flipH="false" flipV="false">
            <a:off x="762000" y="2286000"/>
            <a:ext cx="5080000" cy="825500"/>
          </a:xfrm>
          <a:prstGeom prst="roundRect">
            <a:avLst>
              <a:gd name="adj" fmla="val 15384"/>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489200"/>
            <a:ext cx="406400" cy="406400"/>
          </a:xfrm>
          <a:prstGeom prst="rect">
            <a:avLst/>
          </a:prstGeom>
        </p:spPr>
      </p:pic>
      <p:sp>
        <p:nvSpPr>
          <p:cNvPr name="AutoShape 8" id="8"/>
          <p:cNvSpPr/>
          <p:nvPr/>
        </p:nvSpPr>
        <p:spPr>
          <a:xfrm rot="0" flipH="false" flipV="false">
            <a:off x="1460500" y="23495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第1-4周：需求分析与设计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46A73"/>
                </a:solidFill>
                <a:latin typeface="Noto Sans SC"/>
                <a:ea typeface="Noto Sans SC"/>
                <a:cs typeface="Noto Sans SC"/>
                <a:sym typeface="Noto Sans SC"/>
              </a:rPr>
              <a:t>完成用户需求调研，输出详细设计文档</a:t>
            </a:r>
          </a:p>
        </p:txBody>
      </p:sp>
      <p:sp>
        <p:nvSpPr>
          <p:cNvPr name="AutoShape 9" id="9"/>
          <p:cNvSpPr/>
          <p:nvPr/>
        </p:nvSpPr>
        <p:spPr>
          <a:xfrm rot="0" flipH="false" flipV="false">
            <a:off x="762000" y="3238500"/>
            <a:ext cx="5080000" cy="825500"/>
          </a:xfrm>
          <a:prstGeom prst="roundRect">
            <a:avLst>
              <a:gd name="adj" fmla="val 15384"/>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441700"/>
            <a:ext cx="406400" cy="406400"/>
          </a:xfrm>
          <a:prstGeom prst="rect">
            <a:avLst/>
          </a:prstGeom>
        </p:spPr>
      </p:pic>
      <p:sp>
        <p:nvSpPr>
          <p:cNvPr name="AutoShape 11" id="11"/>
          <p:cNvSpPr/>
          <p:nvPr/>
        </p:nvSpPr>
        <p:spPr>
          <a:xfrm rot="0" flipH="false" flipV="false">
            <a:off x="1460500" y="33020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第5-12周：核心功能开发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46A73"/>
                </a:solidFill>
                <a:latin typeface="Noto Sans SC"/>
                <a:ea typeface="Noto Sans SC"/>
                <a:cs typeface="Noto Sans SC"/>
                <a:sym typeface="Noto Sans SC"/>
              </a:rPr>
              <a:t>核心算法模型训练与系统功能模块开发</a:t>
            </a:r>
          </a:p>
        </p:txBody>
      </p:sp>
      <p:sp>
        <p:nvSpPr>
          <p:cNvPr name="AutoShape 12" id="12"/>
          <p:cNvSpPr/>
          <p:nvPr/>
        </p:nvSpPr>
        <p:spPr>
          <a:xfrm rot="0" flipH="false" flipV="false">
            <a:off x="762000" y="4191000"/>
            <a:ext cx="5080000" cy="825500"/>
          </a:xfrm>
          <a:prstGeom prst="roundRect">
            <a:avLst>
              <a:gd name="adj" fmla="val 15384"/>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394200"/>
            <a:ext cx="406400" cy="406400"/>
          </a:xfrm>
          <a:prstGeom prst="rect">
            <a:avLst/>
          </a:prstGeom>
        </p:spPr>
      </p:pic>
      <p:sp>
        <p:nvSpPr>
          <p:cNvPr name="AutoShape 14" id="14"/>
          <p:cNvSpPr/>
          <p:nvPr/>
        </p:nvSpPr>
        <p:spPr>
          <a:xfrm rot="0" flipH="false" flipV="false">
            <a:off x="1460500" y="42545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第13-18周：系统集成与测试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46A73"/>
                </a:solidFill>
                <a:latin typeface="Noto Sans SC"/>
                <a:ea typeface="Noto Sans SC"/>
                <a:cs typeface="Noto Sans SC"/>
                <a:sym typeface="Noto Sans SC"/>
              </a:rPr>
              <a:t>全链路系统联调，完成压力测试与Bug修复</a:t>
            </a:r>
          </a:p>
        </p:txBody>
      </p:sp>
      <p:sp>
        <p:nvSpPr>
          <p:cNvPr name="AutoShape 15" id="15"/>
          <p:cNvSpPr/>
          <p:nvPr/>
        </p:nvSpPr>
        <p:spPr>
          <a:xfrm rot="0" flipH="false" flipV="false">
            <a:off x="762000" y="5143500"/>
            <a:ext cx="5080000" cy="825500"/>
          </a:xfrm>
          <a:prstGeom prst="roundRect">
            <a:avLst>
              <a:gd name="adj" fmla="val 15384"/>
            </a:avLst>
          </a:prstGeom>
          <a:solidFill>
            <a:srgbClr val="F0F2F5">
              <a:alpha val="100000"/>
            </a:srgbClr>
          </a:solidFill>
          <a:ln w="12700" cmpd="sng" cap="flat">
            <a:solidFill>
              <a:srgbClr val="E5E6EB">
                <a:alpha val="10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346700"/>
            <a:ext cx="406400" cy="406400"/>
          </a:xfrm>
          <a:prstGeom prst="rect">
            <a:avLst/>
          </a:prstGeom>
        </p:spPr>
      </p:pic>
      <p:sp>
        <p:nvSpPr>
          <p:cNvPr name="AutoShape 17" id="17"/>
          <p:cNvSpPr/>
          <p:nvPr/>
        </p:nvSpPr>
        <p:spPr>
          <a:xfrm rot="0" flipH="false" flipV="false">
            <a:off x="1460500" y="52070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第19-24周：试点部署与上线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46A73"/>
                </a:solidFill>
                <a:latin typeface="Noto Sans SC"/>
                <a:ea typeface="Noto Sans SC"/>
                <a:cs typeface="Noto Sans SC"/>
                <a:sym typeface="Noto Sans SC"/>
              </a:rPr>
              <a:t>样板省份试点运行，收集反馈并正式上线</a:t>
            </a:r>
          </a:p>
        </p:txBody>
      </p:sp>
      <p:sp>
        <p:nvSpPr>
          <p:cNvPr name="AutoShape 18" id="18"/>
          <p:cNvSpPr/>
          <p:nvPr/>
        </p:nvSpPr>
        <p:spPr>
          <a:xfrm rot="0" flipH="false" flipV="false">
            <a:off x="6350000" y="1778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7D00"/>
                </a:solidFill>
                <a:latin typeface="Noto Sans SC"/>
                <a:ea typeface="Noto Sans SC"/>
                <a:cs typeface="Noto Sans SC"/>
                <a:sym typeface="Noto Sans SC"/>
              </a:rPr>
              <a:t>AI优先开发路线图</a:t>
            </a:r>
            <a:endParaRPr lang="en-US" sz="1100"/>
          </a:p>
        </p:txBody>
      </p:sp>
      <p:sp>
        <p:nvSpPr>
          <p:cNvPr name="AutoShape 19" id="19"/>
          <p:cNvSpPr/>
          <p:nvPr/>
        </p:nvSpPr>
        <p:spPr>
          <a:xfrm rot="0" flipH="false" flipV="false">
            <a:off x="6350000" y="2286000"/>
            <a:ext cx="5080000" cy="1079500"/>
          </a:xfrm>
          <a:prstGeom prst="roundRect">
            <a:avLst>
              <a:gd name="adj" fmla="val 11764"/>
            </a:avLst>
          </a:prstGeom>
          <a:solidFill>
            <a:srgbClr val="FF7D00">
              <a:alpha val="8000"/>
            </a:srgbClr>
          </a:solidFill>
          <a:ln w="12700" cmpd="sng" cap="flat">
            <a:solidFill>
              <a:srgbClr val="FF7D00">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40500" y="2565400"/>
            <a:ext cx="508000" cy="508000"/>
          </a:xfrm>
          <a:prstGeom prst="rect">
            <a:avLst/>
          </a:prstGeom>
        </p:spPr>
      </p:pic>
      <p:sp>
        <p:nvSpPr>
          <p:cNvPr name="AutoShape 21" id="21"/>
          <p:cNvSpPr/>
          <p:nvPr/>
        </p:nvSpPr>
        <p:spPr>
          <a:xfrm rot="0" flipH="false" flipV="false">
            <a:off x="7175500" y="2349500"/>
            <a:ext cx="4191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第1阶段 (3个月)：样板省建设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46A73"/>
                </a:solidFill>
                <a:latin typeface="Noto Sans SC"/>
                <a:ea typeface="Noto Sans SC"/>
                <a:cs typeface="Noto Sans SC"/>
                <a:sym typeface="Noto Sans SC"/>
              </a:rPr>
              <a:t>聚焦云南、四川、贵州，打造标杆案例，验证AI模型效果</a:t>
            </a:r>
          </a:p>
        </p:txBody>
      </p:sp>
      <p:sp>
        <p:nvSpPr>
          <p:cNvPr name="AutoShape 22" id="22"/>
          <p:cNvSpPr/>
          <p:nvPr/>
        </p:nvSpPr>
        <p:spPr>
          <a:xfrm rot="0" flipH="false" flipV="false">
            <a:off x="6350000" y="3492500"/>
            <a:ext cx="5080000" cy="1079500"/>
          </a:xfrm>
          <a:prstGeom prst="roundRect">
            <a:avLst>
              <a:gd name="adj" fmla="val 11764"/>
            </a:avLst>
          </a:prstGeom>
          <a:solidFill>
            <a:srgbClr val="FF7D00">
              <a:alpha val="8000"/>
            </a:srgbClr>
          </a:solidFill>
          <a:ln w="12700" cmpd="sng" cap="flat">
            <a:solidFill>
              <a:srgbClr val="FF7D00">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540500" y="3771900"/>
            <a:ext cx="508000" cy="508000"/>
          </a:xfrm>
          <a:prstGeom prst="rect">
            <a:avLst/>
          </a:prstGeom>
        </p:spPr>
      </p:pic>
      <p:sp>
        <p:nvSpPr>
          <p:cNvPr name="AutoShape 24" id="24"/>
          <p:cNvSpPr/>
          <p:nvPr/>
        </p:nvSpPr>
        <p:spPr>
          <a:xfrm rot="0" flipH="false" flipV="false">
            <a:off x="7175500" y="3556000"/>
            <a:ext cx="4191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第2阶段 (6个月)：重点省扩张</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46A73"/>
                </a:solidFill>
                <a:latin typeface="Noto Sans SC"/>
                <a:ea typeface="Noto Sans SC"/>
                <a:cs typeface="Noto Sans SC"/>
                <a:sym typeface="Noto Sans SC"/>
              </a:rPr>
              <a:t>拓展河南、山东、江苏等人口大省，快速复制成功经验</a:t>
            </a:r>
          </a:p>
        </p:txBody>
      </p:sp>
      <p:sp>
        <p:nvSpPr>
          <p:cNvPr name="AutoShape 25" id="25"/>
          <p:cNvSpPr/>
          <p:nvPr/>
        </p:nvSpPr>
        <p:spPr>
          <a:xfrm rot="0" flipH="false" flipV="false">
            <a:off x="6350000" y="4699000"/>
            <a:ext cx="5080000" cy="1079500"/>
          </a:xfrm>
          <a:prstGeom prst="roundRect">
            <a:avLst>
              <a:gd name="adj" fmla="val 11764"/>
            </a:avLst>
          </a:prstGeom>
          <a:solidFill>
            <a:srgbClr val="FF7D00">
              <a:alpha val="8000"/>
            </a:srgbClr>
          </a:solidFill>
          <a:ln w="12700" cmpd="sng" cap="flat">
            <a:solidFill>
              <a:srgbClr val="FF7D00">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540500" y="4978400"/>
            <a:ext cx="508000" cy="508000"/>
          </a:xfrm>
          <a:prstGeom prst="rect">
            <a:avLst/>
          </a:prstGeom>
        </p:spPr>
      </p:pic>
      <p:sp>
        <p:nvSpPr>
          <p:cNvPr name="AutoShape 27" id="27"/>
          <p:cNvSpPr/>
          <p:nvPr/>
        </p:nvSpPr>
        <p:spPr>
          <a:xfrm rot="0" flipH="false" flipV="false">
            <a:off x="7175500" y="4762500"/>
            <a:ext cx="4191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第3阶段 (9个月)：全国覆盖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46A73"/>
                </a:solidFill>
                <a:latin typeface="Noto Sans SC"/>
                <a:ea typeface="Noto Sans SC"/>
                <a:cs typeface="Noto Sans SC"/>
                <a:sym typeface="Noto Sans SC"/>
              </a:rPr>
              <a:t>建立省级代理模式，实现全国范围内的规模化推广与落地</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0F2F5">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651000"/>
            <a:ext cx="12192000" cy="1016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6000">
                <a:solidFill>
                  <a:srgbClr val="FF7D00"/>
                </a:solidFill>
                <a:latin typeface="DIN Alternate"/>
                <a:ea typeface="DIN Alternate"/>
                <a:cs typeface="DIN Alternate"/>
                <a:sym typeface="DIN Alternate"/>
              </a:rPr>
              <a:t>06</a:t>
            </a:r>
            <a:endParaRPr lang="en-US" sz="1100"/>
          </a:p>
        </p:txBody>
      </p:sp>
      <p:sp>
        <p:nvSpPr>
          <p:cNvPr name="AutoShape 5" id="5"/>
          <p:cNvSpPr/>
          <p:nvPr/>
        </p:nvSpPr>
        <p:spPr>
          <a:xfrm rot="0" flipH="false" flipV="false">
            <a:off x="0" y="2667000"/>
            <a:ext cx="1219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0052FF"/>
                </a:solidFill>
                <a:latin typeface="Noto Sans SC"/>
                <a:ea typeface="Noto Sans SC"/>
                <a:cs typeface="Noto Sans SC"/>
                <a:sym typeface="Noto Sans SC"/>
              </a:rPr>
              <a:t>预期成效</a:t>
            </a:r>
            <a:endParaRPr lang="en-US" sz="1100"/>
          </a:p>
        </p:txBody>
      </p:sp>
      <p:sp>
        <p:nvSpPr>
          <p:cNvPr name="AutoShape 6" id="6"/>
          <p:cNvSpPr/>
          <p:nvPr/>
        </p:nvSpPr>
        <p:spPr>
          <a:xfrm rot="0" flipH="false" flipV="false">
            <a:off x="5715000" y="3556000"/>
            <a:ext cx="762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3810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333333"/>
                </a:solidFill>
                <a:latin typeface="Noto Sans SC"/>
                <a:ea typeface="Noto Sans SC"/>
                <a:cs typeface="Noto Sans SC"/>
                <a:sym typeface="Noto Sans SC"/>
              </a:rPr>
              <a:t>量化指标与社会价值</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572000"/>
            <a:ext cx="406400" cy="406400"/>
          </a:xfrm>
          <a:prstGeom prst="rect">
            <a:avLst/>
          </a:prstGeom>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预期成效：量化指标与社会价值</a:t>
            </a:r>
            <a:endParaRPr lang="en-US" sz="1100"/>
          </a:p>
        </p:txBody>
      </p:sp>
      <p:sp>
        <p:nvSpPr>
          <p:cNvPr name="AutoShape 5" id="5"/>
          <p:cNvSpPr/>
          <p:nvPr/>
        </p:nvSpPr>
        <p:spPr>
          <a:xfrm rot="0" flipH="false" flipV="false">
            <a:off x="762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329"/>
                </a:solidFill>
                <a:latin typeface="Noto Sans SC"/>
                <a:ea typeface="Noto Sans SC"/>
                <a:cs typeface="Noto Sans SC"/>
                <a:sym typeface="Noto Sans SC"/>
              </a:rPr>
              <a:t>关键量化指标</a:t>
            </a:r>
            <a:endParaRPr lang="en-US" sz="1100"/>
          </a:p>
        </p:txBody>
      </p:sp>
      <p:sp>
        <p:nvSpPr>
          <p:cNvPr name="AutoShape 6" id="6"/>
          <p:cNvSpPr/>
          <p:nvPr/>
        </p:nvSpPr>
        <p:spPr>
          <a:xfrm rot="0" flipH="false" flipV="false">
            <a:off x="762000" y="1905000"/>
            <a:ext cx="2413000" cy="1397000"/>
          </a:xfrm>
          <a:prstGeom prst="roundRect">
            <a:avLst>
              <a:gd name="adj" fmla="val 9090"/>
            </a:avLst>
          </a:prstGeom>
          <a:solidFill>
            <a:srgbClr val="F0F2F5">
              <a:alpha val="100000"/>
            </a:srgbClr>
          </a:solidFill>
          <a:ln cmpd="sng" cap="flat">
            <a:solidFill>
              <a:srgbClr val="C1CCDC">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95500"/>
            <a:ext cx="304800" cy="304800"/>
          </a:xfrm>
          <a:prstGeom prst="rect">
            <a:avLst/>
          </a:prstGeom>
        </p:spPr>
      </p:pic>
      <p:sp>
        <p:nvSpPr>
          <p:cNvPr name="AutoShape 8" id="8"/>
          <p:cNvSpPr/>
          <p:nvPr/>
        </p:nvSpPr>
        <p:spPr>
          <a:xfrm rot="0" flipH="false" flipV="false">
            <a:off x="952500" y="2476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FF7D00"/>
                </a:solidFill>
                <a:latin typeface="Noto Sans SC"/>
                <a:ea typeface="Noto Sans SC"/>
                <a:cs typeface="Noto Sans SC"/>
                <a:sym typeface="Noto Sans SC"/>
              </a:rPr>
              <a:t>80%</a:t>
            </a:r>
            <a:endParaRPr lang="en-US" sz="1100"/>
          </a:p>
        </p:txBody>
      </p:sp>
      <p:sp>
        <p:nvSpPr>
          <p:cNvPr name="AutoShape 9" id="9"/>
          <p:cNvSpPr/>
          <p:nvPr/>
        </p:nvSpPr>
        <p:spPr>
          <a:xfrm rot="0" flipH="false" flipV="false">
            <a:off x="952500" y="29210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A73"/>
                </a:solidFill>
                <a:latin typeface="Noto Sans SC"/>
                <a:ea typeface="Noto Sans SC"/>
                <a:cs typeface="Noto Sans SC"/>
                <a:sym typeface="Noto Sans SC"/>
              </a:rPr>
              <a:t>家长志愿填报失误率下降</a:t>
            </a:r>
            <a:endParaRPr lang="en-US" sz="1100"/>
          </a:p>
        </p:txBody>
      </p:sp>
      <p:sp>
        <p:nvSpPr>
          <p:cNvPr name="AutoShape 10" id="10"/>
          <p:cNvSpPr/>
          <p:nvPr/>
        </p:nvSpPr>
        <p:spPr>
          <a:xfrm rot="0" flipH="false" flipV="false">
            <a:off x="3429000" y="1905000"/>
            <a:ext cx="2413000" cy="1397000"/>
          </a:xfrm>
          <a:prstGeom prst="roundRect">
            <a:avLst>
              <a:gd name="adj" fmla="val 9090"/>
            </a:avLst>
          </a:prstGeom>
          <a:solidFill>
            <a:srgbClr val="F0F2F5">
              <a:alpha val="100000"/>
            </a:srgbClr>
          </a:solidFill>
          <a:ln cmpd="sng" cap="flat">
            <a:solidFill>
              <a:srgbClr val="C1CCDC">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19500" y="2095500"/>
            <a:ext cx="304800" cy="304800"/>
          </a:xfrm>
          <a:prstGeom prst="rect">
            <a:avLst/>
          </a:prstGeom>
        </p:spPr>
      </p:pic>
      <p:sp>
        <p:nvSpPr>
          <p:cNvPr name="AutoShape 12" id="12"/>
          <p:cNvSpPr/>
          <p:nvPr/>
        </p:nvSpPr>
        <p:spPr>
          <a:xfrm rot="0" flipH="false" flipV="false">
            <a:off x="3619500" y="2476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FF7D00"/>
                </a:solidFill>
                <a:latin typeface="Noto Sans SC"/>
                <a:ea typeface="Noto Sans SC"/>
                <a:cs typeface="Noto Sans SC"/>
                <a:sym typeface="Noto Sans SC"/>
              </a:rPr>
              <a:t>90%</a:t>
            </a:r>
            <a:endParaRPr lang="en-US" sz="1100"/>
          </a:p>
        </p:txBody>
      </p:sp>
      <p:sp>
        <p:nvSpPr>
          <p:cNvPr name="AutoShape 13" id="13"/>
          <p:cNvSpPr/>
          <p:nvPr/>
        </p:nvSpPr>
        <p:spPr>
          <a:xfrm rot="0" flipH="false" flipV="false">
            <a:off x="3619500" y="29210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A73"/>
                </a:solidFill>
                <a:latin typeface="Noto Sans SC"/>
                <a:ea typeface="Noto Sans SC"/>
                <a:cs typeface="Noto Sans SC"/>
                <a:sym typeface="Noto Sans SC"/>
              </a:rPr>
              <a:t>学生滑档率降低</a:t>
            </a:r>
            <a:endParaRPr lang="en-US" sz="1100"/>
          </a:p>
        </p:txBody>
      </p:sp>
      <p:sp>
        <p:nvSpPr>
          <p:cNvPr name="AutoShape 14" id="14"/>
          <p:cNvSpPr/>
          <p:nvPr/>
        </p:nvSpPr>
        <p:spPr>
          <a:xfrm rot="0" flipH="false" flipV="false">
            <a:off x="762000" y="3556000"/>
            <a:ext cx="2413000" cy="1397000"/>
          </a:xfrm>
          <a:prstGeom prst="roundRect">
            <a:avLst>
              <a:gd name="adj" fmla="val 9090"/>
            </a:avLst>
          </a:prstGeom>
          <a:solidFill>
            <a:srgbClr val="F0F2F5">
              <a:alpha val="100000"/>
            </a:srgbClr>
          </a:solidFill>
          <a:ln cmpd="sng" cap="flat">
            <a:solidFill>
              <a:srgbClr val="C1CCDC">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3746500"/>
            <a:ext cx="304800" cy="304800"/>
          </a:xfrm>
          <a:prstGeom prst="rect">
            <a:avLst/>
          </a:prstGeom>
        </p:spPr>
      </p:pic>
      <p:sp>
        <p:nvSpPr>
          <p:cNvPr name="AutoShape 16" id="16"/>
          <p:cNvSpPr/>
          <p:nvPr/>
        </p:nvSpPr>
        <p:spPr>
          <a:xfrm rot="0" flipH="false" flipV="false">
            <a:off x="952500" y="412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FF7D00"/>
                </a:solidFill>
                <a:latin typeface="Noto Sans SC"/>
                <a:ea typeface="Noto Sans SC"/>
                <a:cs typeface="Noto Sans SC"/>
                <a:sym typeface="Noto Sans SC"/>
              </a:rPr>
              <a:t>31个</a:t>
            </a:r>
            <a:endParaRPr lang="en-US" sz="1100"/>
          </a:p>
        </p:txBody>
      </p:sp>
      <p:sp>
        <p:nvSpPr>
          <p:cNvPr name="AutoShape 17" id="17"/>
          <p:cNvSpPr/>
          <p:nvPr/>
        </p:nvSpPr>
        <p:spPr>
          <a:xfrm rot="0" flipH="false" flipV="false">
            <a:off x="952500" y="45720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A73"/>
                </a:solidFill>
                <a:latin typeface="Noto Sans SC"/>
                <a:ea typeface="Noto Sans SC"/>
                <a:cs typeface="Noto Sans SC"/>
                <a:sym typeface="Noto Sans SC"/>
              </a:rPr>
              <a:t>覆盖全国省份</a:t>
            </a:r>
            <a:endParaRPr lang="en-US" sz="1100"/>
          </a:p>
        </p:txBody>
      </p:sp>
      <p:sp>
        <p:nvSpPr>
          <p:cNvPr name="AutoShape 18" id="18"/>
          <p:cNvSpPr/>
          <p:nvPr/>
        </p:nvSpPr>
        <p:spPr>
          <a:xfrm rot="0" flipH="false" flipV="false">
            <a:off x="3429000" y="3556000"/>
            <a:ext cx="2413000" cy="1397000"/>
          </a:xfrm>
          <a:prstGeom prst="roundRect">
            <a:avLst>
              <a:gd name="adj" fmla="val 9090"/>
            </a:avLst>
          </a:prstGeom>
          <a:solidFill>
            <a:srgbClr val="F0F2F5">
              <a:alpha val="100000"/>
            </a:srgbClr>
          </a:solidFill>
          <a:ln cmpd="sng" cap="flat">
            <a:solidFill>
              <a:srgbClr val="C1CCDC">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619500" y="3746500"/>
            <a:ext cx="304800" cy="304800"/>
          </a:xfrm>
          <a:prstGeom prst="rect">
            <a:avLst/>
          </a:prstGeom>
        </p:spPr>
      </p:pic>
      <p:sp>
        <p:nvSpPr>
          <p:cNvPr name="AutoShape 20" id="20"/>
          <p:cNvSpPr/>
          <p:nvPr/>
        </p:nvSpPr>
        <p:spPr>
          <a:xfrm rot="0" flipH="false" flipV="false">
            <a:off x="3619500" y="412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FF7D00"/>
                </a:solidFill>
                <a:latin typeface="Noto Sans SC"/>
                <a:ea typeface="Noto Sans SC"/>
                <a:cs typeface="Noto Sans SC"/>
                <a:sym typeface="Noto Sans SC"/>
              </a:rPr>
              <a:t>百万级</a:t>
            </a:r>
            <a:endParaRPr lang="en-US" sz="1100"/>
          </a:p>
        </p:txBody>
      </p:sp>
      <p:sp>
        <p:nvSpPr>
          <p:cNvPr name="AutoShape 21" id="21"/>
          <p:cNvSpPr/>
          <p:nvPr/>
        </p:nvSpPr>
        <p:spPr>
          <a:xfrm rot="0" flipH="false" flipV="false">
            <a:off x="3619500" y="45720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A73"/>
                </a:solidFill>
                <a:latin typeface="Noto Sans SC"/>
                <a:ea typeface="Noto Sans SC"/>
                <a:cs typeface="Noto Sans SC"/>
                <a:sym typeface="Noto Sans SC"/>
              </a:rPr>
              <a:t>服务家长用户</a:t>
            </a:r>
            <a:endParaRPr lang="en-US" sz="1100"/>
          </a:p>
        </p:txBody>
      </p:sp>
      <p:sp>
        <p:nvSpPr>
          <p:cNvPr name="AutoShape 22" id="22"/>
          <p:cNvSpPr/>
          <p:nvPr/>
        </p:nvSpPr>
        <p:spPr>
          <a:xfrm rot="0" flipH="false" flipV="false">
            <a:off x="6350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329"/>
                </a:solidFill>
                <a:latin typeface="Noto Sans SC"/>
                <a:ea typeface="Noto Sans SC"/>
                <a:cs typeface="Noto Sans SC"/>
                <a:sym typeface="Noto Sans SC"/>
              </a:rPr>
              <a:t>核心社会价值</a:t>
            </a:r>
            <a:endParaRPr lang="en-US" sz="1100"/>
          </a:p>
        </p:txBody>
      </p:sp>
      <p:sp>
        <p:nvSpPr>
          <p:cNvPr name="AutoShape 23" id="23"/>
          <p:cNvSpPr/>
          <p:nvPr/>
        </p:nvSpPr>
        <p:spPr>
          <a:xfrm rot="0" flipH="false" flipV="false">
            <a:off x="6350000" y="1905000"/>
            <a:ext cx="5080000" cy="1397000"/>
          </a:xfrm>
          <a:prstGeom prst="roundRect">
            <a:avLst>
              <a:gd name="adj" fmla="val 9090"/>
            </a:avLst>
          </a:prstGeom>
          <a:solidFill>
            <a:srgbClr val="0052FF">
              <a:alpha val="5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2095500"/>
            <a:ext cx="406400" cy="406400"/>
          </a:xfrm>
          <a:prstGeom prst="rect">
            <a:avLst/>
          </a:prstGeom>
        </p:spPr>
      </p:pic>
      <p:sp>
        <p:nvSpPr>
          <p:cNvPr name="AutoShape 25" id="25"/>
          <p:cNvSpPr/>
          <p:nvPr/>
        </p:nvSpPr>
        <p:spPr>
          <a:xfrm rot="0" flipH="false" flipV="false">
            <a:off x="7112000" y="2057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破解升学难题，消除信息不对称</a:t>
            </a:r>
            <a:endParaRPr lang="en-US" sz="1100"/>
          </a:p>
        </p:txBody>
      </p:sp>
      <p:sp>
        <p:nvSpPr>
          <p:cNvPr name="AutoShape 26" id="26"/>
          <p:cNvSpPr/>
          <p:nvPr/>
        </p:nvSpPr>
        <p:spPr>
          <a:xfrm rot="0" flipH="false" flipV="false">
            <a:off x="7112000" y="24384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50555F"/>
                </a:solidFill>
                <a:latin typeface="Noto Sans SC"/>
                <a:ea typeface="Noto Sans SC"/>
                <a:cs typeface="Noto Sans SC"/>
                <a:sym typeface="Noto Sans SC"/>
              </a:rPr>
              <a:t>通过数字化手段解决中考志愿填报难、信息获取成本高的痛点，帮助家长和学生做出更科学的决策。</a:t>
            </a:r>
            <a:endParaRPr lang="en-US" sz="1100"/>
          </a:p>
        </p:txBody>
      </p:sp>
      <p:sp>
        <p:nvSpPr>
          <p:cNvPr name="AutoShape 27" id="27"/>
          <p:cNvSpPr/>
          <p:nvPr/>
        </p:nvSpPr>
        <p:spPr>
          <a:xfrm rot="0" flipH="false" flipV="false">
            <a:off x="6350000" y="3556000"/>
            <a:ext cx="5080000" cy="1397000"/>
          </a:xfrm>
          <a:prstGeom prst="roundRect">
            <a:avLst>
              <a:gd name="adj" fmla="val 9090"/>
            </a:avLst>
          </a:prstGeom>
          <a:solidFill>
            <a:srgbClr val="0052FF">
              <a:alpha val="5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3746500"/>
            <a:ext cx="406400" cy="406400"/>
          </a:xfrm>
          <a:prstGeom prst="rect">
            <a:avLst/>
          </a:prstGeom>
        </p:spPr>
      </p:pic>
      <p:sp>
        <p:nvSpPr>
          <p:cNvPr name="AutoShape 29" id="29"/>
          <p:cNvSpPr/>
          <p:nvPr/>
        </p:nvSpPr>
        <p:spPr>
          <a:xfrm rot="0" flipH="false" flipV="false">
            <a:off x="7112000" y="3708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52FF"/>
                </a:solidFill>
                <a:latin typeface="Noto Sans SC"/>
                <a:ea typeface="Noto Sans SC"/>
                <a:cs typeface="Noto Sans SC"/>
                <a:sym typeface="Noto Sans SC"/>
              </a:rPr>
              <a:t>推动教育公平，助力资源均衡</a:t>
            </a:r>
            <a:endParaRPr lang="en-US" sz="1100"/>
          </a:p>
        </p:txBody>
      </p:sp>
      <p:sp>
        <p:nvSpPr>
          <p:cNvPr name="AutoShape 30" id="30"/>
          <p:cNvSpPr/>
          <p:nvPr/>
        </p:nvSpPr>
        <p:spPr>
          <a:xfrm rot="0" flipH="false" flipV="false">
            <a:off x="7112000" y="40894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50555F"/>
                </a:solidFill>
                <a:latin typeface="Noto Sans SC"/>
                <a:ea typeface="Noto Sans SC"/>
                <a:cs typeface="Noto Sans SC"/>
                <a:sym typeface="Noto Sans SC"/>
              </a:rPr>
              <a:t>提升全国教育数字化服务水平，让优质的升学指导资源跨越地域限制，惠及更多家庭，促进教育公平。</a:t>
            </a:r>
            <a:endParaRPr lang="en-US" sz="1100"/>
          </a:p>
        </p:txBody>
      </p:sp>
      <p:sp>
        <p:nvSpPr>
          <p:cNvPr name="AutoShape 31" id="31"/>
          <p:cNvSpPr/>
          <p:nvPr/>
        </p:nvSpPr>
        <p:spPr>
          <a:xfrm rot="0" flipH="false" flipV="false">
            <a:off x="762000" y="5461000"/>
            <a:ext cx="10668000" cy="25400"/>
          </a:xfrm>
          <a:prstGeom prst="roundRect">
            <a:avLst>
              <a:gd name="adj" fmla="val 0"/>
            </a:avLst>
          </a:prstGeom>
          <a:solidFill>
            <a:srgbClr val="E5E6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762000" y="5651500"/>
            <a:ext cx="10668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69BA0"/>
                </a:solidFill>
                <a:latin typeface="Noto Sans SC"/>
                <a:ea typeface="Noto Sans SC"/>
                <a:cs typeface="Noto Sans SC"/>
                <a:sym typeface="Noto Sans SC"/>
              </a:rPr>
              <a:t>数据来源：平台内部测试数据与行业调研分析</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4521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52FF"/>
                </a:solidFill>
                <a:latin typeface="Noto Sans SC"/>
                <a:ea typeface="Noto Sans SC"/>
                <a:cs typeface="Noto Sans SC"/>
                <a:sym typeface="Noto Sans SC"/>
              </a:rPr>
              <a:t>安全与合规 &amp; 总结</a:t>
            </a:r>
            <a:endParaRPr lang="en-US" sz="1100"/>
          </a:p>
        </p:txBody>
      </p:sp>
      <p:sp>
        <p:nvSpPr>
          <p:cNvPr name="AutoShape 5" id="5"/>
          <p:cNvSpPr/>
          <p:nvPr/>
        </p:nvSpPr>
        <p:spPr>
          <a:xfrm rot="0" flipH="false" flipV="false">
            <a:off x="762000" y="1524000"/>
            <a:ext cx="5080000" cy="4064000"/>
          </a:xfrm>
          <a:prstGeom prst="roundRect">
            <a:avLst>
              <a:gd name="adj" fmla="val 3125"/>
            </a:avLst>
          </a:prstGeom>
          <a:solidFill>
            <a:srgbClr val="F0F2F5">
              <a:alpha val="100000"/>
            </a:srgbClr>
          </a:solidFill>
          <a:ln w="25400" cmpd="sng" cap="flat">
            <a:no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安全与合规保障体系</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304800" cy="304800"/>
          </a:xfrm>
          <a:prstGeom prst="rect">
            <a:avLst/>
          </a:prstGeom>
        </p:spPr>
      </p:pic>
      <p:sp>
        <p:nvSpPr>
          <p:cNvPr name="AutoShape 8" id="8"/>
          <p:cNvSpPr/>
          <p:nvPr/>
        </p:nvSpPr>
        <p:spPr>
          <a:xfrm rot="0" flipH="false" flipV="false">
            <a:off x="1397000" y="21844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爬虫合规：</a:t>
            </a:r>
            <a:r>
              <a:rPr lang="en-US" b="false" i="false" strike="noStrike" u="none" sz="1400">
                <a:solidFill>
                  <a:srgbClr val="666666"/>
                </a:solidFill>
                <a:latin typeface="Noto Sans SC"/>
                <a:ea typeface="Noto Sans SC"/>
                <a:cs typeface="Noto Sans SC"/>
                <a:sym typeface="Noto Sans SC"/>
              </a:rPr>
              <a:t>仅采集公开教育政务数据，严格遵守robots协议。</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794000"/>
            <a:ext cx="304800" cy="304800"/>
          </a:xfrm>
          <a:prstGeom prst="rect">
            <a:avLst/>
          </a:prstGeom>
        </p:spPr>
      </p:pic>
      <p:sp>
        <p:nvSpPr>
          <p:cNvPr name="AutoShape 10" id="10"/>
          <p:cNvSpPr/>
          <p:nvPr/>
        </p:nvSpPr>
        <p:spPr>
          <a:xfrm rot="0" flipH="false" flipV="false">
            <a:off x="1397000" y="27559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隐私保护：</a:t>
            </a:r>
            <a:r>
              <a:rPr lang="en-US" b="false" i="false" strike="noStrike" u="none" sz="1400">
                <a:solidFill>
                  <a:srgbClr val="666666"/>
                </a:solidFill>
                <a:latin typeface="Noto Sans SC"/>
                <a:ea typeface="Noto Sans SC"/>
                <a:cs typeface="Noto Sans SC"/>
                <a:sym typeface="Noto Sans SC"/>
              </a:rPr>
              <a:t>严格遵守《个人信息保护法》，保障用户知情权。</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365500"/>
            <a:ext cx="304800" cy="304800"/>
          </a:xfrm>
          <a:prstGeom prst="rect">
            <a:avLst/>
          </a:prstGeom>
        </p:spPr>
      </p:pic>
      <p:sp>
        <p:nvSpPr>
          <p:cNvPr name="AutoShape 12" id="12"/>
          <p:cNvSpPr/>
          <p:nvPr/>
        </p:nvSpPr>
        <p:spPr>
          <a:xfrm rot="0" flipH="false" flipV="false">
            <a:off x="1397000" y="33274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内容审核：</a:t>
            </a:r>
            <a:r>
              <a:rPr lang="en-US" b="false" i="false" strike="noStrike" u="none" sz="1400">
                <a:solidFill>
                  <a:srgbClr val="666666"/>
                </a:solidFill>
                <a:latin typeface="Noto Sans SC"/>
                <a:ea typeface="Noto Sans SC"/>
                <a:cs typeface="Noto Sans SC"/>
                <a:sym typeface="Noto Sans SC"/>
              </a:rPr>
              <a:t>AI生成内容与用户发布内容均经过双重审核机制。</a:t>
            </a:r>
            <a:endParaRPr lang="en-US" sz="1100"/>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3937000"/>
            <a:ext cx="304800" cy="304800"/>
          </a:xfrm>
          <a:prstGeom prst="rect">
            <a:avLst/>
          </a:prstGeom>
        </p:spPr>
      </p:pic>
      <p:sp>
        <p:nvSpPr>
          <p:cNvPr name="AutoShape 14" id="14"/>
          <p:cNvSpPr/>
          <p:nvPr/>
        </p:nvSpPr>
        <p:spPr>
          <a:xfrm rot="0" flipH="false" flipV="false">
            <a:off x="1397000" y="38989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免责声明：</a:t>
            </a:r>
            <a:r>
              <a:rPr lang="en-US" b="false" i="false" strike="noStrike" u="none" sz="1400">
                <a:solidFill>
                  <a:srgbClr val="666666"/>
                </a:solidFill>
                <a:latin typeface="Noto Sans SC"/>
                <a:ea typeface="Noto Sans SC"/>
                <a:cs typeface="Noto Sans SC"/>
                <a:sym typeface="Noto Sans SC"/>
              </a:rPr>
              <a:t>明确标注数据仅供参考，最终以官方发布为准。</a:t>
            </a:r>
            <a:endParaRPr lang="en-US" sz="1100"/>
          </a:p>
        </p:txBody>
      </p: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4508500"/>
            <a:ext cx="304800" cy="304800"/>
          </a:xfrm>
          <a:prstGeom prst="rect">
            <a:avLst/>
          </a:prstGeom>
        </p:spPr>
      </p:pic>
      <p:sp>
        <p:nvSpPr>
          <p:cNvPr name="AutoShape 16" id="16"/>
          <p:cNvSpPr/>
          <p:nvPr/>
        </p:nvSpPr>
        <p:spPr>
          <a:xfrm rot="0" flipH="false" flipV="false">
            <a:off x="1397000" y="44704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Noto Sans SC"/>
                <a:ea typeface="Noto Sans SC"/>
                <a:cs typeface="Noto Sans SC"/>
                <a:sym typeface="Noto Sans SC"/>
              </a:rPr>
              <a:t>数据加密：</a:t>
            </a:r>
            <a:r>
              <a:rPr lang="en-US" b="false" i="false" strike="noStrike" u="none" sz="1400">
                <a:solidFill>
                  <a:srgbClr val="666666"/>
                </a:solidFill>
                <a:latin typeface="Noto Sans SC"/>
                <a:ea typeface="Noto Sans SC"/>
                <a:cs typeface="Noto Sans SC"/>
                <a:sym typeface="Noto Sans SC"/>
              </a:rPr>
              <a:t>对用户个人信息和学习数据进行全链路加密处理。</a:t>
            </a:r>
            <a:endParaRPr lang="en-US" sz="1100"/>
          </a:p>
        </p:txBody>
      </p:sp>
      <p:sp>
        <p:nvSpPr>
          <p:cNvPr name="AutoShape 17" id="17"/>
          <p:cNvSpPr/>
          <p:nvPr/>
        </p:nvSpPr>
        <p:spPr>
          <a:xfrm rot="0" flipH="false" flipV="false">
            <a:off x="6350000" y="1524000"/>
            <a:ext cx="5080000" cy="4064000"/>
          </a:xfrm>
          <a:prstGeom prst="roundRect">
            <a:avLst>
              <a:gd name="adj" fmla="val 3125"/>
            </a:avLst>
          </a:prstGeom>
          <a:solidFill>
            <a:srgbClr val="F0F2F5">
              <a:alpha val="100000"/>
            </a:srgbClr>
          </a:solidFill>
          <a:ln w="25400" cmpd="sng" cap="flat">
            <a:noFill/>
            <a:prstDash val="solid"/>
            <a:round/>
          </a:ln>
          <a:effectLst>
            <a:outerShdw dir="5400000" dist="50800" blurRad="127000" algn="tl" rotWithShape="false">
              <a:srgbClr val="0052FF">
                <a:alpha val="10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04000" y="1714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52FF"/>
                </a:solidFill>
                <a:latin typeface="Noto Sans SC"/>
                <a:ea typeface="Noto Sans SC"/>
                <a:cs typeface="Noto Sans SC"/>
                <a:sym typeface="Noto Sans SC"/>
              </a:rPr>
              <a:t>项目核心价值总结</a:t>
            </a:r>
            <a:endParaRPr lang="en-US" sz="1100"/>
          </a:p>
        </p:txBody>
      </p:sp>
      <p:sp>
        <p:nvSpPr>
          <p:cNvPr name="AutoShape 19" id="19"/>
          <p:cNvSpPr/>
          <p:nvPr/>
        </p:nvSpPr>
        <p:spPr>
          <a:xfrm rot="0" flipH="false" flipV="false">
            <a:off x="6604000" y="2222500"/>
            <a:ext cx="4572000" cy="1016000"/>
          </a:xfrm>
          <a:prstGeom prst="roundRect">
            <a:avLst>
              <a:gd name="adj" fmla="val 625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794500" y="2527300"/>
            <a:ext cx="406400" cy="406400"/>
          </a:xfrm>
          <a:prstGeom prst="rect">
            <a:avLst/>
          </a:prstGeom>
        </p:spPr>
      </p:pic>
      <p:sp>
        <p:nvSpPr>
          <p:cNvPr name="AutoShape 21" id="21"/>
          <p:cNvSpPr/>
          <p:nvPr/>
        </p:nvSpPr>
        <p:spPr>
          <a:xfrm rot="0" flipH="false" flipV="false">
            <a:off x="7302500" y="23495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全国独家全周期平台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全闭环、不可替代的教育AI产品，全国首创。</a:t>
            </a:r>
          </a:p>
        </p:txBody>
      </p:sp>
      <p:sp>
        <p:nvSpPr>
          <p:cNvPr name="AutoShape 22" id="22"/>
          <p:cNvSpPr/>
          <p:nvPr/>
        </p:nvSpPr>
        <p:spPr>
          <a:xfrm rot="0" flipH="false" flipV="false">
            <a:off x="6604000" y="3302000"/>
            <a:ext cx="4572000" cy="1016000"/>
          </a:xfrm>
          <a:prstGeom prst="roundRect">
            <a:avLst>
              <a:gd name="adj" fmla="val 625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794500" y="3606800"/>
            <a:ext cx="406400" cy="406400"/>
          </a:xfrm>
          <a:prstGeom prst="rect">
            <a:avLst/>
          </a:prstGeom>
        </p:spPr>
      </p:pic>
      <p:sp>
        <p:nvSpPr>
          <p:cNvPr name="AutoShape 24" id="24"/>
          <p:cNvSpPr/>
          <p:nvPr/>
        </p:nvSpPr>
        <p:spPr>
          <a:xfrm rot="0" flipH="false" flipV="false">
            <a:off x="7302500" y="34290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核心商业优势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进校易、留存长、壁垒高、盈利强，全国可复制。</a:t>
            </a:r>
          </a:p>
        </p:txBody>
      </p:sp>
      <p:sp>
        <p:nvSpPr>
          <p:cNvPr name="AutoShape 25" id="25"/>
          <p:cNvSpPr/>
          <p:nvPr/>
        </p:nvSpPr>
        <p:spPr>
          <a:xfrm rot="0" flipH="false" flipV="false">
            <a:off x="6604000" y="4381500"/>
            <a:ext cx="4572000" cy="1016000"/>
          </a:xfrm>
          <a:prstGeom prst="roundRect">
            <a:avLst>
              <a:gd name="adj" fmla="val 625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794500" y="4686300"/>
            <a:ext cx="406400" cy="406400"/>
          </a:xfrm>
          <a:prstGeom prst="rect">
            <a:avLst/>
          </a:prstGeom>
        </p:spPr>
      </p:pic>
      <p:sp>
        <p:nvSpPr>
          <p:cNvPr name="AutoShape 27" id="27"/>
          <p:cNvSpPr/>
          <p:nvPr/>
        </p:nvSpPr>
        <p:spPr>
          <a:xfrm rot="0" flipH="false" flipV="false">
            <a:off x="7302500" y="45085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解决家长核心痛点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彻底解决初三家长择校、填报难及信息差问题。</a:t>
            </a:r>
          </a:p>
        </p:txBody>
      </p:sp>
      <p:sp>
        <p:nvSpPr>
          <p:cNvPr name="AutoShape 28" id="28"/>
          <p:cNvSpPr/>
          <p:nvPr/>
        </p:nvSpPr>
        <p:spPr>
          <a:xfrm rot="0" flipH="false" flipV="false">
            <a:off x="0" y="6781800"/>
            <a:ext cx="12192000" cy="76200"/>
          </a:xfrm>
          <a:prstGeom prst="roundRect">
            <a:avLst>
              <a:gd name="adj" fmla="val 0"/>
            </a:avLst>
          </a:prstGeom>
          <a:gradFill rotWithShape="true">
            <a:gsLst>
              <a:gs pos="0">
                <a:srgbClr val="0052FF">
                  <a:alpha val="100000"/>
                </a:srgbClr>
              </a:gs>
              <a:gs pos="100000">
                <a:srgbClr val="FF7D00">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052FF">
                  <a:alpha val="0"/>
                </a:srgbClr>
              </a:gs>
              <a:gs pos="50000">
                <a:srgbClr val="0052FF">
                  <a:alpha val="100000"/>
                </a:srgbClr>
              </a:gs>
              <a:gs pos="100000">
                <a:srgbClr val="0052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778000"/>
            <a:ext cx="609600" cy="609600"/>
          </a:xfrm>
          <a:prstGeom prst="rect">
            <a:avLst/>
          </a:prstGeom>
          <a:effectLst>
            <a:outerShdw dir="2700000" dist="0" blurRad="127000" algn="tl" rotWithShape="false">
              <a:srgbClr val="FF7D00">
                <a:alpha val="50000"/>
              </a:srgbClr>
            </a:outerShdw>
          </a:effectLst>
        </p:spPr>
      </p:pic>
      <p:sp>
        <p:nvSpPr>
          <p:cNvPr name="AutoShape 6" id="6"/>
          <p:cNvSpPr/>
          <p:nvPr/>
        </p:nvSpPr>
        <p:spPr>
          <a:xfrm rot="0" flipH="false" flipV="false">
            <a:off x="3860800" y="2540000"/>
            <a:ext cx="44704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感谢聆听 敬请指导</a:t>
            </a:r>
            <a:endParaRPr lang="en-US" sz="1100"/>
          </a:p>
        </p:txBody>
      </p:sp>
      <p:sp>
        <p:nvSpPr>
          <p:cNvPr name="AutoShape 7" id="7"/>
          <p:cNvSpPr/>
          <p:nvPr/>
        </p:nvSpPr>
        <p:spPr>
          <a:xfrm rot="0" flipH="false" flipV="false">
            <a:off x="0" y="330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E5E6EB"/>
                </a:solidFill>
                <a:latin typeface="Noto Sans SC"/>
                <a:ea typeface="Noto Sans SC"/>
                <a:cs typeface="Noto Sans SC"/>
                <a:sym typeface="Noto Sans SC"/>
              </a:rPr>
              <a:t>THANKS FOR WATCHING</a:t>
            </a:r>
            <a:endParaRPr lang="en-US" sz="1100"/>
          </a:p>
        </p:txBody>
      </p:sp>
      <p:cxnSp>
        <p:nvCxnSpPr>
          <p:cNvPr name="Connector 8" id="8"/>
          <p:cNvCxnSpPr/>
          <p:nvPr/>
        </p:nvCxnSpPr>
        <p:spPr>
          <a:xfrm rot="-34376" flipH="false" flipV="false">
            <a:off x="5461032" y="3930650"/>
            <a:ext cx="1270000" cy="12700"/>
          </a:xfrm>
          <a:prstGeom prst="straightConnector1">
            <a:avLst/>
          </a:prstGeom>
          <a:solidFill>
            <a:srgbClr val="DEE0E3">
              <a:alpha val="100000"/>
            </a:srgbClr>
          </a:solidFill>
          <a:ln w="25400" cmpd="sng" cap="flat">
            <a:solidFill>
              <a:srgbClr val="0052FF">
                <a:alpha val="100000"/>
              </a:srgbClr>
            </a:solidFill>
            <a:prstDash val="solid"/>
            <a:round/>
            <a:headEnd type="none" w="lg" len="lg"/>
            <a:tailEnd type="none" w="lg" len="lg"/>
          </a:ln>
        </p:spPr>
      </p:cxnSp>
      <p:sp>
        <p:nvSpPr>
          <p:cNvPr name="AutoShape 9" id="9"/>
          <p:cNvSpPr/>
          <p:nvPr/>
        </p:nvSpPr>
        <p:spPr>
          <a:xfrm rot="0" flipH="false" flipV="false">
            <a:off x="0" y="584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期待与您的深入交流 · 共同探索未来科技</a:t>
            </a:r>
            <a:endParaRPr lang="en-US" sz="1100"/>
          </a:p>
        </p:txBody>
      </p:sp>
      <p:sp>
        <p:nvSpPr>
          <p:cNvPr name="AutoShape 10" id="10"/>
          <p:cNvSpPr/>
          <p:nvPr/>
        </p:nvSpPr>
        <p:spPr>
          <a:xfrm rot="0" flipH="false" flipV="false">
            <a:off x="0" y="6807200"/>
            <a:ext cx="12192000" cy="50800"/>
          </a:xfrm>
          <a:prstGeom prst="roundRect">
            <a:avLst>
              <a:gd name="adj" fmla="val 0"/>
            </a:avLst>
          </a:prstGeom>
          <a:gradFill rotWithShape="true">
            <a:gsLst>
              <a:gs pos="0">
                <a:srgbClr val="0052FF">
                  <a:alpha val="0"/>
                </a:srgbClr>
              </a:gs>
              <a:gs pos="50000">
                <a:srgbClr val="0052FF">
                  <a:alpha val="100000"/>
                </a:srgbClr>
              </a:gs>
              <a:gs pos="100000">
                <a:srgbClr val="0052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